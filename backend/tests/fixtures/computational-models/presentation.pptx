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72" r:id="rId2"/>
    <p:sldId id="258" r:id="rId3"/>
    <p:sldId id="257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2" r:id="rId23"/>
    <p:sldId id="293" r:id="rId24"/>
    <p:sldId id="294" r:id="rId25"/>
    <p:sldId id="295" r:id="rId26"/>
    <p:sldId id="296" r:id="rId27"/>
    <p:sldId id="297" r:id="rId28"/>
    <p:sldId id="298" r:id="rId29"/>
    <p:sldId id="299" r:id="rId30"/>
    <p:sldId id="300" r:id="rId31"/>
    <p:sldId id="301" r:id="rId32"/>
    <p:sldId id="302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1" r:id="rId42"/>
    <p:sldId id="312" r:id="rId43"/>
    <p:sldId id="313" r:id="rId44"/>
    <p:sldId id="314" r:id="rId45"/>
    <p:sldId id="315" r:id="rId46"/>
    <p:sldId id="316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6" r:id="rId6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84B375-1539-49B5-8072-A87BF81584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12378B5-82C4-4A25-97A9-51495CA0F6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16A8CFD-8870-42F4-A456-0701F1958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4FE970-6531-424D-9569-2F64FE715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8F2E081-0C71-4320-B740-173827C64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5294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388E6C-E406-4EB2-AFBE-F21064C6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B7C40BB-EEBE-4D2C-B959-7655E3C76E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32387F7-FCA9-44D0-B8BE-51CAAB112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3DD148B-ADB1-4D58-B4C3-19296DE3E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AAE6F57-F624-40BA-8E58-8B13BFAAD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6449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A9B0D6-DF9B-4E04-826B-7BFFAFD06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9C2EE94-8FDD-4E1D-895D-5E55A6CAB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E7DE120-FC66-456B-948F-BC2C1EE80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8A6B01-A731-4750-A0E8-6032918BB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F84F232-58F3-4848-A0FE-1FB977DD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022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4FCE9EF-9B26-4446-96B0-09A540F6A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B58445A-35C1-4F7A-A825-44CCC3161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F185A95F-6DEF-450C-A580-1C8290771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54A0253-CCDE-4C5E-B5D9-43194620A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836141F-491D-4C24-AEF1-8AA4A67CF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DCF02CE-C18D-4C05-B59C-3CC468900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96896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434029-6AF4-4523-B058-EE728A99D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5EE025D-6DE0-44E4-B83F-812BE1F3B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9EBBF93-0481-45D8-96B9-10EC21C5FA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6A4E62B-3AA7-4884-89BF-E313C9D13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523AA20-AA44-43F0-9C15-9A4C56A39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42763AE-CD21-4F48-A949-10227FCED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5B035C7-6147-422D-8D98-33358A8D8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66047D2D-1E56-4978-AAD7-40863EEFA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395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DEA22D5-A2DF-4529-976F-7748B63D0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BE3780E9-1FEF-4A99-9BE1-C4BCC345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811C92C0-EDB8-47C7-A63A-627B4766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6AC1E969-0070-4E73-9F80-EF08EDB74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5990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5E57BDAD-3DBB-4C5F-89AE-30B23DF4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DB2BFBE-4F72-4842-B2CD-10AFB3573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256ECBD0-DBFF-48DC-89AB-9858E01F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162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558F1C-1163-4FBD-A06D-5DC988A3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A56A1D-05EE-4B26-A492-CBB5E5397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F2B38E6F-4FEF-4B35-B8AC-1756FEB90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F003099-6694-4B04-86CA-B97C35CA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CAB79B9-48C7-41D1-B627-21CA2D430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2F75B08-996E-4DCF-929C-6544E15E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47536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4C137DD-40D0-4D88-BC8E-0F3701FC3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C150A9A3-6A6E-4290-9670-04C182D567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59218BF-FDAE-4511-B021-BF228730E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109C917-0958-44BB-851F-AF41A9592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DEF8B0F-4DE5-4090-8DC8-000C696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1F41B1B7-1BBE-4C51-AA1C-16D90283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113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DEB4BD-290B-43E7-B454-6624814B0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8C30CF25-BA5C-43D4-BBE9-A4F01B107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C152105-1FD2-4A3F-ADA8-97DDAAE9D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F677D2B-9C3F-4A6F-AE1D-BFB7801BA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D488813-BF08-4C13-B6AD-66111C359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1391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FBAE297E-5083-406D-915C-8A4C99B6C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54EDD77-59C3-4E55-AF6C-9CA9E1074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3E1B983-4486-4CBE-ADBC-89AE776BE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6E2837E-DA0E-4BA0-986C-F476E138A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14090C-4381-446F-B6EB-A1A1EB10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0255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FDDD1AD-59E8-4D52-AA09-F779D84E7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ECED3DA-F5A7-4A3C-BE8D-F01AC4EE4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CD61210-F9DB-4DCB-9649-70E8ECFD9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89E771-21D1-4944-9447-4FD56A7B5AA0}" type="datetimeFigureOut">
              <a:rPr lang="he-IL" smtClean="0"/>
              <a:t>א'/אלול/תש"ף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F7B992F-FF79-4573-A8D2-8D8C9E6EE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C435704-630A-4093-92C1-14576BCC9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AFFDC-96A7-4135-9FC6-2110AF9246B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8468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B8E3F82-620C-4157-8FB3-A315427C5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4278" y="3761836"/>
            <a:ext cx="3793722" cy="1655762"/>
          </a:xfrm>
        </p:spPr>
        <p:txBody>
          <a:bodyPr>
            <a:normAutofit/>
          </a:bodyPr>
          <a:lstStyle/>
          <a:p>
            <a:r>
              <a:rPr lang="he-IL" sz="28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ד"ר יוסי </a:t>
            </a:r>
            <a:r>
              <a:rPr lang="he-IL" sz="2800" dirty="0" err="1">
                <a:latin typeface="Segoe UI Semilight" panose="020B0402040204020203" pitchFamily="34" charset="0"/>
                <a:cs typeface="Segoe UI Semilight" panose="020B0402040204020203" pitchFamily="34" charset="0"/>
              </a:rPr>
              <a:t>שלוסברג</a:t>
            </a:r>
            <a:endParaRPr lang="he-IL" sz="28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8CD187B8-D50F-4989-B548-8AAF0B021FD6}"/>
              </a:ext>
            </a:extLst>
          </p:cNvPr>
          <p:cNvCxnSpPr/>
          <p:nvPr/>
        </p:nvCxnSpPr>
        <p:spPr>
          <a:xfrm>
            <a:off x="7563775" y="3509963"/>
            <a:ext cx="2370338" cy="0"/>
          </a:xfrm>
          <a:prstGeom prst="line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כותרת 1">
            <a:extLst>
              <a:ext uri="{FF2B5EF4-FFF2-40B4-BE49-F238E27FC236}">
                <a16:creationId xmlns:a16="http://schemas.microsoft.com/office/drawing/2014/main" id="{75AD4321-7D12-4C31-948A-1D2FE8FF5D78}"/>
              </a:ext>
            </a:extLst>
          </p:cNvPr>
          <p:cNvSpPr txBox="1">
            <a:spLocks/>
          </p:cNvSpPr>
          <p:nvPr/>
        </p:nvSpPr>
        <p:spPr>
          <a:xfrm>
            <a:off x="6874278" y="1122363"/>
            <a:ext cx="3793721" cy="2387600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7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 Semilight" panose="020B0402040204020203" pitchFamily="34" charset="0"/>
                <a:ea typeface="+mj-ea"/>
                <a:cs typeface="Segoe UI Semilight" panose="020B0402040204020203" pitchFamily="34" charset="0"/>
              </a:rPr>
              <a:t>מודלים חישוביים</a:t>
            </a:r>
          </a:p>
        </p:txBody>
      </p:sp>
    </p:spTree>
    <p:extLst>
      <p:ext uri="{BB962C8B-B14F-4D97-AF65-F5344CB8AC3E}">
        <p14:creationId xmlns:p14="http://schemas.microsoft.com/office/powerpoint/2010/main" val="195502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4278" y="1122363"/>
            <a:ext cx="3793721" cy="2387600"/>
          </a:xfrm>
        </p:spPr>
        <p:txBody>
          <a:bodyPr/>
          <a:lstStyle/>
          <a:p>
            <a:r>
              <a:rPr lang="he-IL" b="1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מודלים חישוביים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B8E3F82-620C-4157-8FB3-A315427C57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7927" y="3761836"/>
            <a:ext cx="8130073" cy="1655762"/>
          </a:xfrm>
        </p:spPr>
        <p:txBody>
          <a:bodyPr>
            <a:normAutofit/>
          </a:bodyPr>
          <a:lstStyle/>
          <a:p>
            <a:pPr algn="r"/>
            <a:r>
              <a:rPr lang="he-IL" sz="3200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למת הניפוח לשפות רגולריות</a:t>
            </a:r>
          </a:p>
        </p:txBody>
      </p: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8CD187B8-D50F-4989-B548-8AAF0B021FD6}"/>
              </a:ext>
            </a:extLst>
          </p:cNvPr>
          <p:cNvCxnSpPr/>
          <p:nvPr/>
        </p:nvCxnSpPr>
        <p:spPr>
          <a:xfrm>
            <a:off x="7563775" y="3509963"/>
            <a:ext cx="2370338" cy="0"/>
          </a:xfrm>
          <a:prstGeom prst="line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08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754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951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הוכחה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רגולרית, מכאן שקיים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ובו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754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945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 lnSpcReduction="10000"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הוכחה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רגולרית, מכאן שקיים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ובו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נתבונן במסע של המילה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על פני האוטומט: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במהלך קריאת הרישא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מתבצע מעבר על פני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מכיוון שבאוטומט ישנם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מצבים, בהכרח קיים מצב אליו מגיעים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(לפחות) פעמיים.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 מצב זה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את המחרוזת הראשונה שהובילה למצב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ואת המחרוזת הנוספת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2564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575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 lnSpcReduction="10000"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הוכחה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רגולרית, מכאן שקיים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ובו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נתבונן במסע של המילה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על פני האוטומט: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במהלך קריאת הרישא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מתבצע מעבר על פני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מכיוון שבאוטומט ישנם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מצבים, בהכרח קיים מצב אליו מגיעים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(לפחות) פעמיים.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 מצב זה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את המחרוזת הראשונה שהובילה למצב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ואת המחרוזת הנוספת ב-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2564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7351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הוכחה</a:t>
                </a: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עתה נקרא מן המצב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את יתרת המילה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 המחרוזת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ונגיע למצב מקבל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754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אליפסה 3">
            <a:extLst>
              <a:ext uri="{FF2B5EF4-FFF2-40B4-BE49-F238E27FC236}">
                <a16:creationId xmlns:a16="http://schemas.microsoft.com/office/drawing/2014/main" id="{ECBEBC3D-589A-4128-86E3-E70D3387C39A}"/>
              </a:ext>
            </a:extLst>
          </p:cNvPr>
          <p:cNvSpPr/>
          <p:nvPr/>
        </p:nvSpPr>
        <p:spPr>
          <a:xfrm>
            <a:off x="5638800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7A68257A-9B84-4672-99C1-753ECA68067F}"/>
              </a:ext>
            </a:extLst>
          </p:cNvPr>
          <p:cNvSpPr/>
          <p:nvPr/>
        </p:nvSpPr>
        <p:spPr>
          <a:xfrm>
            <a:off x="7377114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B7EE1826-5415-4202-83EF-C5BA41B17783}"/>
              </a:ext>
            </a:extLst>
          </p:cNvPr>
          <p:cNvSpPr/>
          <p:nvPr/>
        </p:nvSpPr>
        <p:spPr>
          <a:xfrm>
            <a:off x="9119042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qf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C6D7BB0-CAFD-4271-BCBD-29AD743811A1}"/>
              </a:ext>
            </a:extLst>
          </p:cNvPr>
          <p:cNvSpPr/>
          <p:nvPr/>
        </p:nvSpPr>
        <p:spPr>
          <a:xfrm>
            <a:off x="9361050" y="3069464"/>
            <a:ext cx="430383" cy="4907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dirty="0">
              <a:solidFill>
                <a:schemeClr val="tx1"/>
              </a:solidFill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05361A32-1EBA-4406-9E74-304F4EED4A5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439747" y="2733869"/>
            <a:ext cx="332964" cy="25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צורה חופשית: צורה 12">
            <a:extLst>
              <a:ext uri="{FF2B5EF4-FFF2-40B4-BE49-F238E27FC236}">
                <a16:creationId xmlns:a16="http://schemas.microsoft.com/office/drawing/2014/main" id="{9F354D4D-A8E8-459C-A684-CFA8D95F5ACF}"/>
              </a:ext>
            </a:extLst>
          </p:cNvPr>
          <p:cNvSpPr/>
          <p:nvPr/>
        </p:nvSpPr>
        <p:spPr>
          <a:xfrm>
            <a:off x="6578082" y="3275045"/>
            <a:ext cx="802432" cy="849086"/>
          </a:xfrm>
          <a:custGeom>
            <a:avLst/>
            <a:gdLst>
              <a:gd name="connsiteX0" fmla="*/ 0 w 802432"/>
              <a:gd name="connsiteY0" fmla="*/ 55984 h 849086"/>
              <a:gd name="connsiteX1" fmla="*/ 205273 w 802432"/>
              <a:gd name="connsiteY1" fmla="*/ 65314 h 849086"/>
              <a:gd name="connsiteX2" fmla="*/ 233265 w 802432"/>
              <a:gd name="connsiteY2" fmla="*/ 74645 h 849086"/>
              <a:gd name="connsiteX3" fmla="*/ 261257 w 802432"/>
              <a:gd name="connsiteY3" fmla="*/ 93306 h 849086"/>
              <a:gd name="connsiteX4" fmla="*/ 298579 w 802432"/>
              <a:gd name="connsiteY4" fmla="*/ 149290 h 849086"/>
              <a:gd name="connsiteX5" fmla="*/ 317240 w 802432"/>
              <a:gd name="connsiteY5" fmla="*/ 205273 h 849086"/>
              <a:gd name="connsiteX6" fmla="*/ 307910 w 802432"/>
              <a:gd name="connsiteY6" fmla="*/ 438539 h 849086"/>
              <a:gd name="connsiteX7" fmla="*/ 289249 w 802432"/>
              <a:gd name="connsiteY7" fmla="*/ 466531 h 849086"/>
              <a:gd name="connsiteX8" fmla="*/ 270587 w 802432"/>
              <a:gd name="connsiteY8" fmla="*/ 522514 h 849086"/>
              <a:gd name="connsiteX9" fmla="*/ 261257 w 802432"/>
              <a:gd name="connsiteY9" fmla="*/ 550506 h 849086"/>
              <a:gd name="connsiteX10" fmla="*/ 270587 w 802432"/>
              <a:gd name="connsiteY10" fmla="*/ 699796 h 849086"/>
              <a:gd name="connsiteX11" fmla="*/ 279918 w 802432"/>
              <a:gd name="connsiteY11" fmla="*/ 811763 h 849086"/>
              <a:gd name="connsiteX12" fmla="*/ 335902 w 802432"/>
              <a:gd name="connsiteY12" fmla="*/ 849086 h 849086"/>
              <a:gd name="connsiteX13" fmla="*/ 475861 w 802432"/>
              <a:gd name="connsiteY13" fmla="*/ 839755 h 849086"/>
              <a:gd name="connsiteX14" fmla="*/ 513183 w 802432"/>
              <a:gd name="connsiteY14" fmla="*/ 802433 h 849086"/>
              <a:gd name="connsiteX15" fmla="*/ 578498 w 802432"/>
              <a:gd name="connsiteY15" fmla="*/ 755779 h 849086"/>
              <a:gd name="connsiteX16" fmla="*/ 615820 w 802432"/>
              <a:gd name="connsiteY16" fmla="*/ 737118 h 849086"/>
              <a:gd name="connsiteX17" fmla="*/ 625151 w 802432"/>
              <a:gd name="connsiteY17" fmla="*/ 709126 h 849086"/>
              <a:gd name="connsiteX18" fmla="*/ 634481 w 802432"/>
              <a:gd name="connsiteY18" fmla="*/ 662473 h 849086"/>
              <a:gd name="connsiteX19" fmla="*/ 653142 w 802432"/>
              <a:gd name="connsiteY19" fmla="*/ 615820 h 849086"/>
              <a:gd name="connsiteX20" fmla="*/ 662473 w 802432"/>
              <a:gd name="connsiteY20" fmla="*/ 587828 h 849086"/>
              <a:gd name="connsiteX21" fmla="*/ 681134 w 802432"/>
              <a:gd name="connsiteY21" fmla="*/ 541175 h 849086"/>
              <a:gd name="connsiteX22" fmla="*/ 671804 w 802432"/>
              <a:gd name="connsiteY22" fmla="*/ 429208 h 849086"/>
              <a:gd name="connsiteX23" fmla="*/ 653142 w 802432"/>
              <a:gd name="connsiteY23" fmla="*/ 373224 h 849086"/>
              <a:gd name="connsiteX24" fmla="*/ 634481 w 802432"/>
              <a:gd name="connsiteY24" fmla="*/ 270588 h 849086"/>
              <a:gd name="connsiteX25" fmla="*/ 625151 w 802432"/>
              <a:gd name="connsiteY25" fmla="*/ 233265 h 849086"/>
              <a:gd name="connsiteX26" fmla="*/ 606489 w 802432"/>
              <a:gd name="connsiteY26" fmla="*/ 214604 h 849086"/>
              <a:gd name="connsiteX27" fmla="*/ 587828 w 802432"/>
              <a:gd name="connsiteY27" fmla="*/ 111967 h 849086"/>
              <a:gd name="connsiteX28" fmla="*/ 597159 w 802432"/>
              <a:gd name="connsiteY28" fmla="*/ 0 h 849086"/>
              <a:gd name="connsiteX29" fmla="*/ 718457 w 802432"/>
              <a:gd name="connsiteY29" fmla="*/ 9331 h 849086"/>
              <a:gd name="connsiteX30" fmla="*/ 783771 w 802432"/>
              <a:gd name="connsiteY30" fmla="*/ 27992 h 849086"/>
              <a:gd name="connsiteX31" fmla="*/ 802432 w 802432"/>
              <a:gd name="connsiteY31" fmla="*/ 27992 h 84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02432" h="849086">
                <a:moveTo>
                  <a:pt x="0" y="55984"/>
                </a:moveTo>
                <a:cubicBezTo>
                  <a:pt x="68424" y="59094"/>
                  <a:pt x="136996" y="59852"/>
                  <a:pt x="205273" y="65314"/>
                </a:cubicBezTo>
                <a:cubicBezTo>
                  <a:pt x="215077" y="66098"/>
                  <a:pt x="224468" y="70246"/>
                  <a:pt x="233265" y="74645"/>
                </a:cubicBezTo>
                <a:cubicBezTo>
                  <a:pt x="243295" y="79660"/>
                  <a:pt x="251926" y="87086"/>
                  <a:pt x="261257" y="93306"/>
                </a:cubicBezTo>
                <a:cubicBezTo>
                  <a:pt x="273698" y="111967"/>
                  <a:pt x="291487" y="128013"/>
                  <a:pt x="298579" y="149290"/>
                </a:cubicBezTo>
                <a:lnTo>
                  <a:pt x="317240" y="205273"/>
                </a:lnTo>
                <a:cubicBezTo>
                  <a:pt x="314130" y="283028"/>
                  <a:pt x="316200" y="361164"/>
                  <a:pt x="307910" y="438539"/>
                </a:cubicBezTo>
                <a:cubicBezTo>
                  <a:pt x="306715" y="449689"/>
                  <a:pt x="293804" y="456284"/>
                  <a:pt x="289249" y="466531"/>
                </a:cubicBezTo>
                <a:cubicBezTo>
                  <a:pt x="281260" y="484506"/>
                  <a:pt x="276807" y="503853"/>
                  <a:pt x="270587" y="522514"/>
                </a:cubicBezTo>
                <a:lnTo>
                  <a:pt x="261257" y="550506"/>
                </a:lnTo>
                <a:cubicBezTo>
                  <a:pt x="264367" y="600269"/>
                  <a:pt x="267035" y="650062"/>
                  <a:pt x="270587" y="699796"/>
                </a:cubicBezTo>
                <a:cubicBezTo>
                  <a:pt x="273255" y="737153"/>
                  <a:pt x="264907" y="777451"/>
                  <a:pt x="279918" y="811763"/>
                </a:cubicBezTo>
                <a:cubicBezTo>
                  <a:pt x="288908" y="832311"/>
                  <a:pt x="335902" y="849086"/>
                  <a:pt x="335902" y="849086"/>
                </a:cubicBezTo>
                <a:cubicBezTo>
                  <a:pt x="382555" y="845976"/>
                  <a:pt x="430644" y="851654"/>
                  <a:pt x="475861" y="839755"/>
                </a:cubicBezTo>
                <a:cubicBezTo>
                  <a:pt x="492875" y="835277"/>
                  <a:pt x="499942" y="814019"/>
                  <a:pt x="513183" y="802433"/>
                </a:cubicBezTo>
                <a:cubicBezTo>
                  <a:pt x="522603" y="794191"/>
                  <a:pt x="564157" y="763974"/>
                  <a:pt x="578498" y="755779"/>
                </a:cubicBezTo>
                <a:cubicBezTo>
                  <a:pt x="590574" y="748878"/>
                  <a:pt x="603379" y="743338"/>
                  <a:pt x="615820" y="737118"/>
                </a:cubicBezTo>
                <a:cubicBezTo>
                  <a:pt x="618930" y="727787"/>
                  <a:pt x="622766" y="718668"/>
                  <a:pt x="625151" y="709126"/>
                </a:cubicBezTo>
                <a:cubicBezTo>
                  <a:pt x="628997" y="693741"/>
                  <a:pt x="629924" y="677663"/>
                  <a:pt x="634481" y="662473"/>
                </a:cubicBezTo>
                <a:cubicBezTo>
                  <a:pt x="639294" y="646430"/>
                  <a:pt x="647261" y="631502"/>
                  <a:pt x="653142" y="615820"/>
                </a:cubicBezTo>
                <a:cubicBezTo>
                  <a:pt x="656595" y="606611"/>
                  <a:pt x="659020" y="597037"/>
                  <a:pt x="662473" y="587828"/>
                </a:cubicBezTo>
                <a:cubicBezTo>
                  <a:pt x="668354" y="572146"/>
                  <a:pt x="674914" y="556726"/>
                  <a:pt x="681134" y="541175"/>
                </a:cubicBezTo>
                <a:cubicBezTo>
                  <a:pt x="678024" y="503853"/>
                  <a:pt x="677961" y="466150"/>
                  <a:pt x="671804" y="429208"/>
                </a:cubicBezTo>
                <a:cubicBezTo>
                  <a:pt x="668570" y="409805"/>
                  <a:pt x="653142" y="373224"/>
                  <a:pt x="653142" y="373224"/>
                </a:cubicBezTo>
                <a:cubicBezTo>
                  <a:pt x="646387" y="332690"/>
                  <a:pt x="643178" y="309727"/>
                  <a:pt x="634481" y="270588"/>
                </a:cubicBezTo>
                <a:cubicBezTo>
                  <a:pt x="631699" y="258070"/>
                  <a:pt x="630886" y="244735"/>
                  <a:pt x="625151" y="233265"/>
                </a:cubicBezTo>
                <a:cubicBezTo>
                  <a:pt x="621217" y="225397"/>
                  <a:pt x="612710" y="220824"/>
                  <a:pt x="606489" y="214604"/>
                </a:cubicBezTo>
                <a:cubicBezTo>
                  <a:pt x="593368" y="175239"/>
                  <a:pt x="587828" y="164716"/>
                  <a:pt x="587828" y="111967"/>
                </a:cubicBezTo>
                <a:cubicBezTo>
                  <a:pt x="587828" y="74515"/>
                  <a:pt x="594049" y="37322"/>
                  <a:pt x="597159" y="0"/>
                </a:cubicBezTo>
                <a:cubicBezTo>
                  <a:pt x="637592" y="3110"/>
                  <a:pt x="678183" y="4593"/>
                  <a:pt x="718457" y="9331"/>
                </a:cubicBezTo>
                <a:cubicBezTo>
                  <a:pt x="774781" y="15957"/>
                  <a:pt x="736357" y="18509"/>
                  <a:pt x="783771" y="27992"/>
                </a:cubicBezTo>
                <a:cubicBezTo>
                  <a:pt x="789871" y="29212"/>
                  <a:pt x="796212" y="27992"/>
                  <a:pt x="802432" y="2799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צורה חופשית: צורה 13">
            <a:extLst>
              <a:ext uri="{FF2B5EF4-FFF2-40B4-BE49-F238E27FC236}">
                <a16:creationId xmlns:a16="http://schemas.microsoft.com/office/drawing/2014/main" id="{9342375B-35F9-473C-8D23-99AE458243E1}"/>
              </a:ext>
            </a:extLst>
          </p:cNvPr>
          <p:cNvSpPr/>
          <p:nvPr/>
        </p:nvSpPr>
        <p:spPr>
          <a:xfrm>
            <a:off x="7229475" y="2219325"/>
            <a:ext cx="1295400" cy="762267"/>
          </a:xfrm>
          <a:custGeom>
            <a:avLst/>
            <a:gdLst>
              <a:gd name="connsiteX0" fmla="*/ 428625 w 1295400"/>
              <a:gd name="connsiteY0" fmla="*/ 666750 h 762267"/>
              <a:gd name="connsiteX1" fmla="*/ 66675 w 1295400"/>
              <a:gd name="connsiteY1" fmla="*/ 666750 h 762267"/>
              <a:gd name="connsiteX2" fmla="*/ 38100 w 1295400"/>
              <a:gd name="connsiteY2" fmla="*/ 628650 h 762267"/>
              <a:gd name="connsiteX3" fmla="*/ 19050 w 1295400"/>
              <a:gd name="connsiteY3" fmla="*/ 571500 h 762267"/>
              <a:gd name="connsiteX4" fmla="*/ 0 w 1295400"/>
              <a:gd name="connsiteY4" fmla="*/ 342900 h 762267"/>
              <a:gd name="connsiteX5" fmla="*/ 9525 w 1295400"/>
              <a:gd name="connsiteY5" fmla="*/ 257175 h 762267"/>
              <a:gd name="connsiteX6" fmla="*/ 19050 w 1295400"/>
              <a:gd name="connsiteY6" fmla="*/ 219075 h 762267"/>
              <a:gd name="connsiteX7" fmla="*/ 47625 w 1295400"/>
              <a:gd name="connsiteY7" fmla="*/ 190500 h 762267"/>
              <a:gd name="connsiteX8" fmla="*/ 76200 w 1295400"/>
              <a:gd name="connsiteY8" fmla="*/ 180975 h 762267"/>
              <a:gd name="connsiteX9" fmla="*/ 285750 w 1295400"/>
              <a:gd name="connsiteY9" fmla="*/ 190500 h 762267"/>
              <a:gd name="connsiteX10" fmla="*/ 314325 w 1295400"/>
              <a:gd name="connsiteY10" fmla="*/ 200025 h 762267"/>
              <a:gd name="connsiteX11" fmla="*/ 352425 w 1295400"/>
              <a:gd name="connsiteY11" fmla="*/ 209550 h 762267"/>
              <a:gd name="connsiteX12" fmla="*/ 695325 w 1295400"/>
              <a:gd name="connsiteY12" fmla="*/ 200025 h 762267"/>
              <a:gd name="connsiteX13" fmla="*/ 771525 w 1295400"/>
              <a:gd name="connsiteY13" fmla="*/ 123825 h 762267"/>
              <a:gd name="connsiteX14" fmla="*/ 838200 w 1295400"/>
              <a:gd name="connsiteY14" fmla="*/ 95250 h 762267"/>
              <a:gd name="connsiteX15" fmla="*/ 885825 w 1295400"/>
              <a:gd name="connsiteY15" fmla="*/ 57150 h 762267"/>
              <a:gd name="connsiteX16" fmla="*/ 971550 w 1295400"/>
              <a:gd name="connsiteY16" fmla="*/ 19050 h 762267"/>
              <a:gd name="connsiteX17" fmla="*/ 1009650 w 1295400"/>
              <a:gd name="connsiteY17" fmla="*/ 0 h 762267"/>
              <a:gd name="connsiteX18" fmla="*/ 1114425 w 1295400"/>
              <a:gd name="connsiteY18" fmla="*/ 9525 h 762267"/>
              <a:gd name="connsiteX19" fmla="*/ 1123950 w 1295400"/>
              <a:gd name="connsiteY19" fmla="*/ 38100 h 762267"/>
              <a:gd name="connsiteX20" fmla="*/ 1143000 w 1295400"/>
              <a:gd name="connsiteY20" fmla="*/ 285750 h 762267"/>
              <a:gd name="connsiteX21" fmla="*/ 1200150 w 1295400"/>
              <a:gd name="connsiteY21" fmla="*/ 304800 h 762267"/>
              <a:gd name="connsiteX22" fmla="*/ 1257300 w 1295400"/>
              <a:gd name="connsiteY22" fmla="*/ 342900 h 762267"/>
              <a:gd name="connsiteX23" fmla="*/ 1285875 w 1295400"/>
              <a:gd name="connsiteY23" fmla="*/ 361950 h 762267"/>
              <a:gd name="connsiteX24" fmla="*/ 1295400 w 1295400"/>
              <a:gd name="connsiteY24" fmla="*/ 390525 h 762267"/>
              <a:gd name="connsiteX25" fmla="*/ 1266825 w 1295400"/>
              <a:gd name="connsiteY25" fmla="*/ 457200 h 762267"/>
              <a:gd name="connsiteX26" fmla="*/ 1238250 w 1295400"/>
              <a:gd name="connsiteY26" fmla="*/ 485775 h 762267"/>
              <a:gd name="connsiteX27" fmla="*/ 1219200 w 1295400"/>
              <a:gd name="connsiteY27" fmla="*/ 542925 h 762267"/>
              <a:gd name="connsiteX28" fmla="*/ 1190625 w 1295400"/>
              <a:gd name="connsiteY28" fmla="*/ 561975 h 762267"/>
              <a:gd name="connsiteX29" fmla="*/ 1133475 w 1295400"/>
              <a:gd name="connsiteY29" fmla="*/ 609600 h 762267"/>
              <a:gd name="connsiteX30" fmla="*/ 1104900 w 1295400"/>
              <a:gd name="connsiteY30" fmla="*/ 619125 h 762267"/>
              <a:gd name="connsiteX31" fmla="*/ 1057275 w 1295400"/>
              <a:gd name="connsiteY31" fmla="*/ 676275 h 762267"/>
              <a:gd name="connsiteX32" fmla="*/ 1047750 w 1295400"/>
              <a:gd name="connsiteY32" fmla="*/ 704850 h 762267"/>
              <a:gd name="connsiteX33" fmla="*/ 1038225 w 1295400"/>
              <a:gd name="connsiteY33" fmla="*/ 742950 h 762267"/>
              <a:gd name="connsiteX34" fmla="*/ 942975 w 1295400"/>
              <a:gd name="connsiteY34" fmla="*/ 762000 h 762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95400" h="762267">
                <a:moveTo>
                  <a:pt x="428625" y="666750"/>
                </a:moveTo>
                <a:cubicBezTo>
                  <a:pt x="294568" y="693561"/>
                  <a:pt x="291282" y="697945"/>
                  <a:pt x="66675" y="666750"/>
                </a:cubicBezTo>
                <a:cubicBezTo>
                  <a:pt x="50951" y="664566"/>
                  <a:pt x="47625" y="641350"/>
                  <a:pt x="38100" y="628650"/>
                </a:cubicBezTo>
                <a:cubicBezTo>
                  <a:pt x="31750" y="609600"/>
                  <a:pt x="21541" y="591425"/>
                  <a:pt x="19050" y="571500"/>
                </a:cubicBezTo>
                <a:cubicBezTo>
                  <a:pt x="3212" y="444794"/>
                  <a:pt x="11122" y="520848"/>
                  <a:pt x="0" y="342900"/>
                </a:cubicBezTo>
                <a:cubicBezTo>
                  <a:pt x="3175" y="314325"/>
                  <a:pt x="5153" y="285592"/>
                  <a:pt x="9525" y="257175"/>
                </a:cubicBezTo>
                <a:cubicBezTo>
                  <a:pt x="11516" y="244236"/>
                  <a:pt x="12555" y="230441"/>
                  <a:pt x="19050" y="219075"/>
                </a:cubicBezTo>
                <a:cubicBezTo>
                  <a:pt x="25733" y="207379"/>
                  <a:pt x="36417" y="197972"/>
                  <a:pt x="47625" y="190500"/>
                </a:cubicBezTo>
                <a:cubicBezTo>
                  <a:pt x="55979" y="184931"/>
                  <a:pt x="66675" y="184150"/>
                  <a:pt x="76200" y="180975"/>
                </a:cubicBezTo>
                <a:cubicBezTo>
                  <a:pt x="146050" y="184150"/>
                  <a:pt x="216051" y="184924"/>
                  <a:pt x="285750" y="190500"/>
                </a:cubicBezTo>
                <a:cubicBezTo>
                  <a:pt x="295758" y="191301"/>
                  <a:pt x="304671" y="197267"/>
                  <a:pt x="314325" y="200025"/>
                </a:cubicBezTo>
                <a:cubicBezTo>
                  <a:pt x="326912" y="203621"/>
                  <a:pt x="339725" y="206375"/>
                  <a:pt x="352425" y="209550"/>
                </a:cubicBezTo>
                <a:cubicBezTo>
                  <a:pt x="466725" y="206375"/>
                  <a:pt x="583300" y="222939"/>
                  <a:pt x="695325" y="200025"/>
                </a:cubicBezTo>
                <a:cubicBezTo>
                  <a:pt x="730517" y="192827"/>
                  <a:pt x="737447" y="135184"/>
                  <a:pt x="771525" y="123825"/>
                </a:cubicBezTo>
                <a:cubicBezTo>
                  <a:pt x="796925" y="115358"/>
                  <a:pt x="814660" y="110943"/>
                  <a:pt x="838200" y="95250"/>
                </a:cubicBezTo>
                <a:cubicBezTo>
                  <a:pt x="855116" y="83973"/>
                  <a:pt x="868909" y="68427"/>
                  <a:pt x="885825" y="57150"/>
                </a:cubicBezTo>
                <a:cubicBezTo>
                  <a:pt x="909273" y="41518"/>
                  <a:pt x="946800" y="30050"/>
                  <a:pt x="971550" y="19050"/>
                </a:cubicBezTo>
                <a:cubicBezTo>
                  <a:pt x="984525" y="13283"/>
                  <a:pt x="996950" y="6350"/>
                  <a:pt x="1009650" y="0"/>
                </a:cubicBezTo>
                <a:cubicBezTo>
                  <a:pt x="1044575" y="3175"/>
                  <a:pt x="1081156" y="-1565"/>
                  <a:pt x="1114425" y="9525"/>
                </a:cubicBezTo>
                <a:cubicBezTo>
                  <a:pt x="1123950" y="12700"/>
                  <a:pt x="1122917" y="28113"/>
                  <a:pt x="1123950" y="38100"/>
                </a:cubicBezTo>
                <a:cubicBezTo>
                  <a:pt x="1132469" y="120454"/>
                  <a:pt x="1120255" y="206142"/>
                  <a:pt x="1143000" y="285750"/>
                </a:cubicBezTo>
                <a:cubicBezTo>
                  <a:pt x="1148517" y="305058"/>
                  <a:pt x="1183442" y="293661"/>
                  <a:pt x="1200150" y="304800"/>
                </a:cubicBezTo>
                <a:lnTo>
                  <a:pt x="1257300" y="342900"/>
                </a:lnTo>
                <a:lnTo>
                  <a:pt x="1285875" y="361950"/>
                </a:lnTo>
                <a:cubicBezTo>
                  <a:pt x="1289050" y="371475"/>
                  <a:pt x="1295400" y="380485"/>
                  <a:pt x="1295400" y="390525"/>
                </a:cubicBezTo>
                <a:cubicBezTo>
                  <a:pt x="1295400" y="415943"/>
                  <a:pt x="1282379" y="438535"/>
                  <a:pt x="1266825" y="457200"/>
                </a:cubicBezTo>
                <a:cubicBezTo>
                  <a:pt x="1258201" y="467548"/>
                  <a:pt x="1247775" y="476250"/>
                  <a:pt x="1238250" y="485775"/>
                </a:cubicBezTo>
                <a:cubicBezTo>
                  <a:pt x="1231900" y="504825"/>
                  <a:pt x="1235908" y="531786"/>
                  <a:pt x="1219200" y="542925"/>
                </a:cubicBezTo>
                <a:cubicBezTo>
                  <a:pt x="1209675" y="549275"/>
                  <a:pt x="1199419" y="554646"/>
                  <a:pt x="1190625" y="561975"/>
                </a:cubicBezTo>
                <a:cubicBezTo>
                  <a:pt x="1159027" y="588307"/>
                  <a:pt x="1168948" y="591863"/>
                  <a:pt x="1133475" y="609600"/>
                </a:cubicBezTo>
                <a:cubicBezTo>
                  <a:pt x="1124495" y="614090"/>
                  <a:pt x="1114425" y="615950"/>
                  <a:pt x="1104900" y="619125"/>
                </a:cubicBezTo>
                <a:cubicBezTo>
                  <a:pt x="1083834" y="640191"/>
                  <a:pt x="1070536" y="649753"/>
                  <a:pt x="1057275" y="676275"/>
                </a:cubicBezTo>
                <a:cubicBezTo>
                  <a:pt x="1052785" y="685255"/>
                  <a:pt x="1050508" y="695196"/>
                  <a:pt x="1047750" y="704850"/>
                </a:cubicBezTo>
                <a:cubicBezTo>
                  <a:pt x="1044154" y="717437"/>
                  <a:pt x="1048164" y="734431"/>
                  <a:pt x="1038225" y="742950"/>
                </a:cubicBezTo>
                <a:cubicBezTo>
                  <a:pt x="1011315" y="766016"/>
                  <a:pt x="974410" y="762000"/>
                  <a:pt x="942975" y="762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צורה חופשית: צורה 14">
            <a:extLst>
              <a:ext uri="{FF2B5EF4-FFF2-40B4-BE49-F238E27FC236}">
                <a16:creationId xmlns:a16="http://schemas.microsoft.com/office/drawing/2014/main" id="{21C59B3D-35AF-4091-97E7-00DBE807F3DB}"/>
              </a:ext>
            </a:extLst>
          </p:cNvPr>
          <p:cNvSpPr/>
          <p:nvPr/>
        </p:nvSpPr>
        <p:spPr>
          <a:xfrm>
            <a:off x="8286750" y="2514600"/>
            <a:ext cx="1133526" cy="1307822"/>
          </a:xfrm>
          <a:custGeom>
            <a:avLst/>
            <a:gdLst>
              <a:gd name="connsiteX0" fmla="*/ 0 w 1133526"/>
              <a:gd name="connsiteY0" fmla="*/ 942975 h 1307822"/>
              <a:gd name="connsiteX1" fmla="*/ 47625 w 1133526"/>
              <a:gd name="connsiteY1" fmla="*/ 952500 h 1307822"/>
              <a:gd name="connsiteX2" fmla="*/ 76200 w 1133526"/>
              <a:gd name="connsiteY2" fmla="*/ 971550 h 1307822"/>
              <a:gd name="connsiteX3" fmla="*/ 104775 w 1133526"/>
              <a:gd name="connsiteY3" fmla="*/ 981075 h 1307822"/>
              <a:gd name="connsiteX4" fmla="*/ 133350 w 1133526"/>
              <a:gd name="connsiteY4" fmla="*/ 1009650 h 1307822"/>
              <a:gd name="connsiteX5" fmla="*/ 180975 w 1133526"/>
              <a:gd name="connsiteY5" fmla="*/ 1047750 h 1307822"/>
              <a:gd name="connsiteX6" fmla="*/ 238125 w 1133526"/>
              <a:gd name="connsiteY6" fmla="*/ 1162050 h 1307822"/>
              <a:gd name="connsiteX7" fmla="*/ 276225 w 1133526"/>
              <a:gd name="connsiteY7" fmla="*/ 1247775 h 1307822"/>
              <a:gd name="connsiteX8" fmla="*/ 304800 w 1133526"/>
              <a:gd name="connsiteY8" fmla="*/ 1266825 h 1307822"/>
              <a:gd name="connsiteX9" fmla="*/ 361950 w 1133526"/>
              <a:gd name="connsiteY9" fmla="*/ 1304925 h 1307822"/>
              <a:gd name="connsiteX10" fmla="*/ 485775 w 1133526"/>
              <a:gd name="connsiteY10" fmla="*/ 1285875 h 1307822"/>
              <a:gd name="connsiteX11" fmla="*/ 504825 w 1133526"/>
              <a:gd name="connsiteY11" fmla="*/ 923925 h 1307822"/>
              <a:gd name="connsiteX12" fmla="*/ 533400 w 1133526"/>
              <a:gd name="connsiteY12" fmla="*/ 857250 h 1307822"/>
              <a:gd name="connsiteX13" fmla="*/ 542925 w 1133526"/>
              <a:gd name="connsiteY13" fmla="*/ 790575 h 1307822"/>
              <a:gd name="connsiteX14" fmla="*/ 552450 w 1133526"/>
              <a:gd name="connsiteY14" fmla="*/ 704850 h 1307822"/>
              <a:gd name="connsiteX15" fmla="*/ 571500 w 1133526"/>
              <a:gd name="connsiteY15" fmla="*/ 647700 h 1307822"/>
              <a:gd name="connsiteX16" fmla="*/ 581025 w 1133526"/>
              <a:gd name="connsiteY16" fmla="*/ 609600 h 1307822"/>
              <a:gd name="connsiteX17" fmla="*/ 600075 w 1133526"/>
              <a:gd name="connsiteY17" fmla="*/ 542925 h 1307822"/>
              <a:gd name="connsiteX18" fmla="*/ 619125 w 1133526"/>
              <a:gd name="connsiteY18" fmla="*/ 485775 h 1307822"/>
              <a:gd name="connsiteX19" fmla="*/ 628650 w 1133526"/>
              <a:gd name="connsiteY19" fmla="*/ 390525 h 1307822"/>
              <a:gd name="connsiteX20" fmla="*/ 676275 w 1133526"/>
              <a:gd name="connsiteY20" fmla="*/ 295275 h 1307822"/>
              <a:gd name="connsiteX21" fmla="*/ 714375 w 1133526"/>
              <a:gd name="connsiteY21" fmla="*/ 238125 h 1307822"/>
              <a:gd name="connsiteX22" fmla="*/ 733425 w 1133526"/>
              <a:gd name="connsiteY22" fmla="*/ 190500 h 1307822"/>
              <a:gd name="connsiteX23" fmla="*/ 752475 w 1133526"/>
              <a:gd name="connsiteY23" fmla="*/ 161925 h 1307822"/>
              <a:gd name="connsiteX24" fmla="*/ 762000 w 1133526"/>
              <a:gd name="connsiteY24" fmla="*/ 133350 h 1307822"/>
              <a:gd name="connsiteX25" fmla="*/ 800100 w 1133526"/>
              <a:gd name="connsiteY25" fmla="*/ 95250 h 1307822"/>
              <a:gd name="connsiteX26" fmla="*/ 809625 w 1133526"/>
              <a:gd name="connsiteY26" fmla="*/ 66675 h 1307822"/>
              <a:gd name="connsiteX27" fmla="*/ 847725 w 1133526"/>
              <a:gd name="connsiteY27" fmla="*/ 47625 h 1307822"/>
              <a:gd name="connsiteX28" fmla="*/ 876300 w 1133526"/>
              <a:gd name="connsiteY28" fmla="*/ 28575 h 1307822"/>
              <a:gd name="connsiteX29" fmla="*/ 933450 w 1133526"/>
              <a:gd name="connsiteY29" fmla="*/ 9525 h 1307822"/>
              <a:gd name="connsiteX30" fmla="*/ 962025 w 1133526"/>
              <a:gd name="connsiteY30" fmla="*/ 0 h 1307822"/>
              <a:gd name="connsiteX31" fmla="*/ 1038225 w 1133526"/>
              <a:gd name="connsiteY31" fmla="*/ 9525 h 1307822"/>
              <a:gd name="connsiteX32" fmla="*/ 1066800 w 1133526"/>
              <a:gd name="connsiteY32" fmla="*/ 28575 h 1307822"/>
              <a:gd name="connsiteX33" fmla="*/ 1076325 w 1133526"/>
              <a:gd name="connsiteY33" fmla="*/ 190500 h 1307822"/>
              <a:gd name="connsiteX34" fmla="*/ 1085850 w 1133526"/>
              <a:gd name="connsiteY34" fmla="*/ 219075 h 1307822"/>
              <a:gd name="connsiteX35" fmla="*/ 1095375 w 1133526"/>
              <a:gd name="connsiteY35" fmla="*/ 276225 h 1307822"/>
              <a:gd name="connsiteX36" fmla="*/ 1114425 w 1133526"/>
              <a:gd name="connsiteY36" fmla="*/ 304800 h 1307822"/>
              <a:gd name="connsiteX37" fmla="*/ 1133475 w 1133526"/>
              <a:gd name="connsiteY37" fmla="*/ 381000 h 130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33526" h="1307822">
                <a:moveTo>
                  <a:pt x="0" y="942975"/>
                </a:moveTo>
                <a:cubicBezTo>
                  <a:pt x="15875" y="946150"/>
                  <a:pt x="32466" y="946816"/>
                  <a:pt x="47625" y="952500"/>
                </a:cubicBezTo>
                <a:cubicBezTo>
                  <a:pt x="58344" y="956520"/>
                  <a:pt x="65961" y="966430"/>
                  <a:pt x="76200" y="971550"/>
                </a:cubicBezTo>
                <a:cubicBezTo>
                  <a:pt x="85180" y="976040"/>
                  <a:pt x="95250" y="977900"/>
                  <a:pt x="104775" y="981075"/>
                </a:cubicBezTo>
                <a:cubicBezTo>
                  <a:pt x="114300" y="990600"/>
                  <a:pt x="122142" y="1002178"/>
                  <a:pt x="133350" y="1009650"/>
                </a:cubicBezTo>
                <a:cubicBezTo>
                  <a:pt x="169157" y="1033522"/>
                  <a:pt x="160492" y="998591"/>
                  <a:pt x="180975" y="1047750"/>
                </a:cubicBezTo>
                <a:cubicBezTo>
                  <a:pt x="227882" y="1160326"/>
                  <a:pt x="181958" y="1105883"/>
                  <a:pt x="238125" y="1162050"/>
                </a:cubicBezTo>
                <a:cubicBezTo>
                  <a:pt x="247556" y="1190344"/>
                  <a:pt x="253584" y="1225134"/>
                  <a:pt x="276225" y="1247775"/>
                </a:cubicBezTo>
                <a:cubicBezTo>
                  <a:pt x="284320" y="1255870"/>
                  <a:pt x="296006" y="1259496"/>
                  <a:pt x="304800" y="1266825"/>
                </a:cubicBezTo>
                <a:cubicBezTo>
                  <a:pt x="352366" y="1306463"/>
                  <a:pt x="311732" y="1288186"/>
                  <a:pt x="361950" y="1304925"/>
                </a:cubicBezTo>
                <a:cubicBezTo>
                  <a:pt x="403225" y="1298575"/>
                  <a:pt x="471112" y="1324977"/>
                  <a:pt x="485775" y="1285875"/>
                </a:cubicBezTo>
                <a:cubicBezTo>
                  <a:pt x="528197" y="1172751"/>
                  <a:pt x="491483" y="1044003"/>
                  <a:pt x="504825" y="923925"/>
                </a:cubicBezTo>
                <a:cubicBezTo>
                  <a:pt x="507495" y="899893"/>
                  <a:pt x="523875" y="879475"/>
                  <a:pt x="533400" y="857250"/>
                </a:cubicBezTo>
                <a:cubicBezTo>
                  <a:pt x="536575" y="835025"/>
                  <a:pt x="540140" y="812852"/>
                  <a:pt x="542925" y="790575"/>
                </a:cubicBezTo>
                <a:cubicBezTo>
                  <a:pt x="546491" y="762046"/>
                  <a:pt x="546811" y="733043"/>
                  <a:pt x="552450" y="704850"/>
                </a:cubicBezTo>
                <a:cubicBezTo>
                  <a:pt x="556388" y="685159"/>
                  <a:pt x="566630" y="667181"/>
                  <a:pt x="571500" y="647700"/>
                </a:cubicBezTo>
                <a:cubicBezTo>
                  <a:pt x="574675" y="635000"/>
                  <a:pt x="577581" y="622230"/>
                  <a:pt x="581025" y="609600"/>
                </a:cubicBezTo>
                <a:cubicBezTo>
                  <a:pt x="587107" y="587300"/>
                  <a:pt x="593277" y="565017"/>
                  <a:pt x="600075" y="542925"/>
                </a:cubicBezTo>
                <a:cubicBezTo>
                  <a:pt x="605980" y="523733"/>
                  <a:pt x="619125" y="485775"/>
                  <a:pt x="619125" y="485775"/>
                </a:cubicBezTo>
                <a:cubicBezTo>
                  <a:pt x="622300" y="454025"/>
                  <a:pt x="619481" y="421088"/>
                  <a:pt x="628650" y="390525"/>
                </a:cubicBezTo>
                <a:cubicBezTo>
                  <a:pt x="638850" y="356524"/>
                  <a:pt x="656584" y="324811"/>
                  <a:pt x="676275" y="295275"/>
                </a:cubicBezTo>
                <a:cubicBezTo>
                  <a:pt x="688975" y="276225"/>
                  <a:pt x="705872" y="259383"/>
                  <a:pt x="714375" y="238125"/>
                </a:cubicBezTo>
                <a:cubicBezTo>
                  <a:pt x="720725" y="222250"/>
                  <a:pt x="725779" y="205793"/>
                  <a:pt x="733425" y="190500"/>
                </a:cubicBezTo>
                <a:cubicBezTo>
                  <a:pt x="738545" y="180261"/>
                  <a:pt x="747355" y="172164"/>
                  <a:pt x="752475" y="161925"/>
                </a:cubicBezTo>
                <a:cubicBezTo>
                  <a:pt x="756965" y="152945"/>
                  <a:pt x="756164" y="141520"/>
                  <a:pt x="762000" y="133350"/>
                </a:cubicBezTo>
                <a:cubicBezTo>
                  <a:pt x="772439" y="118735"/>
                  <a:pt x="787400" y="107950"/>
                  <a:pt x="800100" y="95250"/>
                </a:cubicBezTo>
                <a:cubicBezTo>
                  <a:pt x="803275" y="85725"/>
                  <a:pt x="802525" y="73775"/>
                  <a:pt x="809625" y="66675"/>
                </a:cubicBezTo>
                <a:cubicBezTo>
                  <a:pt x="819665" y="56635"/>
                  <a:pt x="835397" y="54670"/>
                  <a:pt x="847725" y="47625"/>
                </a:cubicBezTo>
                <a:cubicBezTo>
                  <a:pt x="857664" y="41945"/>
                  <a:pt x="865839" y="33224"/>
                  <a:pt x="876300" y="28575"/>
                </a:cubicBezTo>
                <a:cubicBezTo>
                  <a:pt x="894650" y="20420"/>
                  <a:pt x="914400" y="15875"/>
                  <a:pt x="933450" y="9525"/>
                </a:cubicBezTo>
                <a:lnTo>
                  <a:pt x="962025" y="0"/>
                </a:lnTo>
                <a:cubicBezTo>
                  <a:pt x="987425" y="3175"/>
                  <a:pt x="1013529" y="2790"/>
                  <a:pt x="1038225" y="9525"/>
                </a:cubicBezTo>
                <a:cubicBezTo>
                  <a:pt x="1049269" y="12537"/>
                  <a:pt x="1064442" y="17373"/>
                  <a:pt x="1066800" y="28575"/>
                </a:cubicBezTo>
                <a:cubicBezTo>
                  <a:pt x="1077939" y="81484"/>
                  <a:pt x="1070945" y="136700"/>
                  <a:pt x="1076325" y="190500"/>
                </a:cubicBezTo>
                <a:cubicBezTo>
                  <a:pt x="1077324" y="200490"/>
                  <a:pt x="1083672" y="209274"/>
                  <a:pt x="1085850" y="219075"/>
                </a:cubicBezTo>
                <a:cubicBezTo>
                  <a:pt x="1090040" y="237928"/>
                  <a:pt x="1089268" y="257903"/>
                  <a:pt x="1095375" y="276225"/>
                </a:cubicBezTo>
                <a:cubicBezTo>
                  <a:pt x="1098995" y="287085"/>
                  <a:pt x="1109776" y="294339"/>
                  <a:pt x="1114425" y="304800"/>
                </a:cubicBezTo>
                <a:cubicBezTo>
                  <a:pt x="1135483" y="352181"/>
                  <a:pt x="1133475" y="346864"/>
                  <a:pt x="1133475" y="381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/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/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/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84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טענה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95726" y="1630363"/>
                <a:ext cx="7724776" cy="51609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השפה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הוכחה</a:t>
                </a: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עתה נקרא מן המצב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את יתרת המילה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 המחרוזת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ונגיע למצב מקבל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אולם באופן זה גם למילה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he-IL" b="0" i="1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he-IL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קיים מסלול מקבל, למרות שאינה בשפה.  סתירה!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מכאן שלא קיים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ושפה זו אינה רגולרית.  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מש"ל</a:t>
                </a:r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95726" y="1630363"/>
                <a:ext cx="7724776" cy="5160962"/>
              </a:xfrm>
              <a:blipFill>
                <a:blip r:embed="rId2"/>
                <a:stretch>
                  <a:fillRect t="-1535" r="-1263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אליפסה 3">
            <a:extLst>
              <a:ext uri="{FF2B5EF4-FFF2-40B4-BE49-F238E27FC236}">
                <a16:creationId xmlns:a16="http://schemas.microsoft.com/office/drawing/2014/main" id="{ECBEBC3D-589A-4128-86E3-E70D3387C39A}"/>
              </a:ext>
            </a:extLst>
          </p:cNvPr>
          <p:cNvSpPr/>
          <p:nvPr/>
        </p:nvSpPr>
        <p:spPr>
          <a:xfrm>
            <a:off x="5638800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7A68257A-9B84-4672-99C1-753ECA68067F}"/>
              </a:ext>
            </a:extLst>
          </p:cNvPr>
          <p:cNvSpPr/>
          <p:nvPr/>
        </p:nvSpPr>
        <p:spPr>
          <a:xfrm>
            <a:off x="7377114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B7EE1826-5415-4202-83EF-C5BA41B17783}"/>
              </a:ext>
            </a:extLst>
          </p:cNvPr>
          <p:cNvSpPr/>
          <p:nvPr/>
        </p:nvSpPr>
        <p:spPr>
          <a:xfrm>
            <a:off x="9119042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qf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C6D7BB0-CAFD-4271-BCBD-29AD743811A1}"/>
              </a:ext>
            </a:extLst>
          </p:cNvPr>
          <p:cNvSpPr/>
          <p:nvPr/>
        </p:nvSpPr>
        <p:spPr>
          <a:xfrm>
            <a:off x="9361050" y="3069464"/>
            <a:ext cx="430383" cy="4907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dirty="0">
              <a:solidFill>
                <a:schemeClr val="tx1"/>
              </a:solidFill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05361A32-1EBA-4406-9E74-304F4EED4A5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439747" y="2733869"/>
            <a:ext cx="332964" cy="25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צורה חופשית: צורה 12">
            <a:extLst>
              <a:ext uri="{FF2B5EF4-FFF2-40B4-BE49-F238E27FC236}">
                <a16:creationId xmlns:a16="http://schemas.microsoft.com/office/drawing/2014/main" id="{9F354D4D-A8E8-459C-A684-CFA8D95F5ACF}"/>
              </a:ext>
            </a:extLst>
          </p:cNvPr>
          <p:cNvSpPr/>
          <p:nvPr/>
        </p:nvSpPr>
        <p:spPr>
          <a:xfrm>
            <a:off x="6578082" y="3275045"/>
            <a:ext cx="802432" cy="849086"/>
          </a:xfrm>
          <a:custGeom>
            <a:avLst/>
            <a:gdLst>
              <a:gd name="connsiteX0" fmla="*/ 0 w 802432"/>
              <a:gd name="connsiteY0" fmla="*/ 55984 h 849086"/>
              <a:gd name="connsiteX1" fmla="*/ 205273 w 802432"/>
              <a:gd name="connsiteY1" fmla="*/ 65314 h 849086"/>
              <a:gd name="connsiteX2" fmla="*/ 233265 w 802432"/>
              <a:gd name="connsiteY2" fmla="*/ 74645 h 849086"/>
              <a:gd name="connsiteX3" fmla="*/ 261257 w 802432"/>
              <a:gd name="connsiteY3" fmla="*/ 93306 h 849086"/>
              <a:gd name="connsiteX4" fmla="*/ 298579 w 802432"/>
              <a:gd name="connsiteY4" fmla="*/ 149290 h 849086"/>
              <a:gd name="connsiteX5" fmla="*/ 317240 w 802432"/>
              <a:gd name="connsiteY5" fmla="*/ 205273 h 849086"/>
              <a:gd name="connsiteX6" fmla="*/ 307910 w 802432"/>
              <a:gd name="connsiteY6" fmla="*/ 438539 h 849086"/>
              <a:gd name="connsiteX7" fmla="*/ 289249 w 802432"/>
              <a:gd name="connsiteY7" fmla="*/ 466531 h 849086"/>
              <a:gd name="connsiteX8" fmla="*/ 270587 w 802432"/>
              <a:gd name="connsiteY8" fmla="*/ 522514 h 849086"/>
              <a:gd name="connsiteX9" fmla="*/ 261257 w 802432"/>
              <a:gd name="connsiteY9" fmla="*/ 550506 h 849086"/>
              <a:gd name="connsiteX10" fmla="*/ 270587 w 802432"/>
              <a:gd name="connsiteY10" fmla="*/ 699796 h 849086"/>
              <a:gd name="connsiteX11" fmla="*/ 279918 w 802432"/>
              <a:gd name="connsiteY11" fmla="*/ 811763 h 849086"/>
              <a:gd name="connsiteX12" fmla="*/ 335902 w 802432"/>
              <a:gd name="connsiteY12" fmla="*/ 849086 h 849086"/>
              <a:gd name="connsiteX13" fmla="*/ 475861 w 802432"/>
              <a:gd name="connsiteY13" fmla="*/ 839755 h 849086"/>
              <a:gd name="connsiteX14" fmla="*/ 513183 w 802432"/>
              <a:gd name="connsiteY14" fmla="*/ 802433 h 849086"/>
              <a:gd name="connsiteX15" fmla="*/ 578498 w 802432"/>
              <a:gd name="connsiteY15" fmla="*/ 755779 h 849086"/>
              <a:gd name="connsiteX16" fmla="*/ 615820 w 802432"/>
              <a:gd name="connsiteY16" fmla="*/ 737118 h 849086"/>
              <a:gd name="connsiteX17" fmla="*/ 625151 w 802432"/>
              <a:gd name="connsiteY17" fmla="*/ 709126 h 849086"/>
              <a:gd name="connsiteX18" fmla="*/ 634481 w 802432"/>
              <a:gd name="connsiteY18" fmla="*/ 662473 h 849086"/>
              <a:gd name="connsiteX19" fmla="*/ 653142 w 802432"/>
              <a:gd name="connsiteY19" fmla="*/ 615820 h 849086"/>
              <a:gd name="connsiteX20" fmla="*/ 662473 w 802432"/>
              <a:gd name="connsiteY20" fmla="*/ 587828 h 849086"/>
              <a:gd name="connsiteX21" fmla="*/ 681134 w 802432"/>
              <a:gd name="connsiteY21" fmla="*/ 541175 h 849086"/>
              <a:gd name="connsiteX22" fmla="*/ 671804 w 802432"/>
              <a:gd name="connsiteY22" fmla="*/ 429208 h 849086"/>
              <a:gd name="connsiteX23" fmla="*/ 653142 w 802432"/>
              <a:gd name="connsiteY23" fmla="*/ 373224 h 849086"/>
              <a:gd name="connsiteX24" fmla="*/ 634481 w 802432"/>
              <a:gd name="connsiteY24" fmla="*/ 270588 h 849086"/>
              <a:gd name="connsiteX25" fmla="*/ 625151 w 802432"/>
              <a:gd name="connsiteY25" fmla="*/ 233265 h 849086"/>
              <a:gd name="connsiteX26" fmla="*/ 606489 w 802432"/>
              <a:gd name="connsiteY26" fmla="*/ 214604 h 849086"/>
              <a:gd name="connsiteX27" fmla="*/ 587828 w 802432"/>
              <a:gd name="connsiteY27" fmla="*/ 111967 h 849086"/>
              <a:gd name="connsiteX28" fmla="*/ 597159 w 802432"/>
              <a:gd name="connsiteY28" fmla="*/ 0 h 849086"/>
              <a:gd name="connsiteX29" fmla="*/ 718457 w 802432"/>
              <a:gd name="connsiteY29" fmla="*/ 9331 h 849086"/>
              <a:gd name="connsiteX30" fmla="*/ 783771 w 802432"/>
              <a:gd name="connsiteY30" fmla="*/ 27992 h 849086"/>
              <a:gd name="connsiteX31" fmla="*/ 802432 w 802432"/>
              <a:gd name="connsiteY31" fmla="*/ 27992 h 84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02432" h="849086">
                <a:moveTo>
                  <a:pt x="0" y="55984"/>
                </a:moveTo>
                <a:cubicBezTo>
                  <a:pt x="68424" y="59094"/>
                  <a:pt x="136996" y="59852"/>
                  <a:pt x="205273" y="65314"/>
                </a:cubicBezTo>
                <a:cubicBezTo>
                  <a:pt x="215077" y="66098"/>
                  <a:pt x="224468" y="70246"/>
                  <a:pt x="233265" y="74645"/>
                </a:cubicBezTo>
                <a:cubicBezTo>
                  <a:pt x="243295" y="79660"/>
                  <a:pt x="251926" y="87086"/>
                  <a:pt x="261257" y="93306"/>
                </a:cubicBezTo>
                <a:cubicBezTo>
                  <a:pt x="273698" y="111967"/>
                  <a:pt x="291487" y="128013"/>
                  <a:pt x="298579" y="149290"/>
                </a:cubicBezTo>
                <a:lnTo>
                  <a:pt x="317240" y="205273"/>
                </a:lnTo>
                <a:cubicBezTo>
                  <a:pt x="314130" y="283028"/>
                  <a:pt x="316200" y="361164"/>
                  <a:pt x="307910" y="438539"/>
                </a:cubicBezTo>
                <a:cubicBezTo>
                  <a:pt x="306715" y="449689"/>
                  <a:pt x="293804" y="456284"/>
                  <a:pt x="289249" y="466531"/>
                </a:cubicBezTo>
                <a:cubicBezTo>
                  <a:pt x="281260" y="484506"/>
                  <a:pt x="276807" y="503853"/>
                  <a:pt x="270587" y="522514"/>
                </a:cubicBezTo>
                <a:lnTo>
                  <a:pt x="261257" y="550506"/>
                </a:lnTo>
                <a:cubicBezTo>
                  <a:pt x="264367" y="600269"/>
                  <a:pt x="267035" y="650062"/>
                  <a:pt x="270587" y="699796"/>
                </a:cubicBezTo>
                <a:cubicBezTo>
                  <a:pt x="273255" y="737153"/>
                  <a:pt x="264907" y="777451"/>
                  <a:pt x="279918" y="811763"/>
                </a:cubicBezTo>
                <a:cubicBezTo>
                  <a:pt x="288908" y="832311"/>
                  <a:pt x="335902" y="849086"/>
                  <a:pt x="335902" y="849086"/>
                </a:cubicBezTo>
                <a:cubicBezTo>
                  <a:pt x="382555" y="845976"/>
                  <a:pt x="430644" y="851654"/>
                  <a:pt x="475861" y="839755"/>
                </a:cubicBezTo>
                <a:cubicBezTo>
                  <a:pt x="492875" y="835277"/>
                  <a:pt x="499942" y="814019"/>
                  <a:pt x="513183" y="802433"/>
                </a:cubicBezTo>
                <a:cubicBezTo>
                  <a:pt x="522603" y="794191"/>
                  <a:pt x="564157" y="763974"/>
                  <a:pt x="578498" y="755779"/>
                </a:cubicBezTo>
                <a:cubicBezTo>
                  <a:pt x="590574" y="748878"/>
                  <a:pt x="603379" y="743338"/>
                  <a:pt x="615820" y="737118"/>
                </a:cubicBezTo>
                <a:cubicBezTo>
                  <a:pt x="618930" y="727787"/>
                  <a:pt x="622766" y="718668"/>
                  <a:pt x="625151" y="709126"/>
                </a:cubicBezTo>
                <a:cubicBezTo>
                  <a:pt x="628997" y="693741"/>
                  <a:pt x="629924" y="677663"/>
                  <a:pt x="634481" y="662473"/>
                </a:cubicBezTo>
                <a:cubicBezTo>
                  <a:pt x="639294" y="646430"/>
                  <a:pt x="647261" y="631502"/>
                  <a:pt x="653142" y="615820"/>
                </a:cubicBezTo>
                <a:cubicBezTo>
                  <a:pt x="656595" y="606611"/>
                  <a:pt x="659020" y="597037"/>
                  <a:pt x="662473" y="587828"/>
                </a:cubicBezTo>
                <a:cubicBezTo>
                  <a:pt x="668354" y="572146"/>
                  <a:pt x="674914" y="556726"/>
                  <a:pt x="681134" y="541175"/>
                </a:cubicBezTo>
                <a:cubicBezTo>
                  <a:pt x="678024" y="503853"/>
                  <a:pt x="677961" y="466150"/>
                  <a:pt x="671804" y="429208"/>
                </a:cubicBezTo>
                <a:cubicBezTo>
                  <a:pt x="668570" y="409805"/>
                  <a:pt x="653142" y="373224"/>
                  <a:pt x="653142" y="373224"/>
                </a:cubicBezTo>
                <a:cubicBezTo>
                  <a:pt x="646387" y="332690"/>
                  <a:pt x="643178" y="309727"/>
                  <a:pt x="634481" y="270588"/>
                </a:cubicBezTo>
                <a:cubicBezTo>
                  <a:pt x="631699" y="258070"/>
                  <a:pt x="630886" y="244735"/>
                  <a:pt x="625151" y="233265"/>
                </a:cubicBezTo>
                <a:cubicBezTo>
                  <a:pt x="621217" y="225397"/>
                  <a:pt x="612710" y="220824"/>
                  <a:pt x="606489" y="214604"/>
                </a:cubicBezTo>
                <a:cubicBezTo>
                  <a:pt x="593368" y="175239"/>
                  <a:pt x="587828" y="164716"/>
                  <a:pt x="587828" y="111967"/>
                </a:cubicBezTo>
                <a:cubicBezTo>
                  <a:pt x="587828" y="74515"/>
                  <a:pt x="594049" y="37322"/>
                  <a:pt x="597159" y="0"/>
                </a:cubicBezTo>
                <a:cubicBezTo>
                  <a:pt x="637592" y="3110"/>
                  <a:pt x="678183" y="4593"/>
                  <a:pt x="718457" y="9331"/>
                </a:cubicBezTo>
                <a:cubicBezTo>
                  <a:pt x="774781" y="15957"/>
                  <a:pt x="736357" y="18509"/>
                  <a:pt x="783771" y="27992"/>
                </a:cubicBezTo>
                <a:cubicBezTo>
                  <a:pt x="789871" y="29212"/>
                  <a:pt x="796212" y="27992"/>
                  <a:pt x="802432" y="2799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צורה חופשית: צורה 13">
            <a:extLst>
              <a:ext uri="{FF2B5EF4-FFF2-40B4-BE49-F238E27FC236}">
                <a16:creationId xmlns:a16="http://schemas.microsoft.com/office/drawing/2014/main" id="{9342375B-35F9-473C-8D23-99AE458243E1}"/>
              </a:ext>
            </a:extLst>
          </p:cNvPr>
          <p:cNvSpPr/>
          <p:nvPr/>
        </p:nvSpPr>
        <p:spPr>
          <a:xfrm>
            <a:off x="7229475" y="2219325"/>
            <a:ext cx="1295400" cy="762267"/>
          </a:xfrm>
          <a:custGeom>
            <a:avLst/>
            <a:gdLst>
              <a:gd name="connsiteX0" fmla="*/ 428625 w 1295400"/>
              <a:gd name="connsiteY0" fmla="*/ 666750 h 762267"/>
              <a:gd name="connsiteX1" fmla="*/ 66675 w 1295400"/>
              <a:gd name="connsiteY1" fmla="*/ 666750 h 762267"/>
              <a:gd name="connsiteX2" fmla="*/ 38100 w 1295400"/>
              <a:gd name="connsiteY2" fmla="*/ 628650 h 762267"/>
              <a:gd name="connsiteX3" fmla="*/ 19050 w 1295400"/>
              <a:gd name="connsiteY3" fmla="*/ 571500 h 762267"/>
              <a:gd name="connsiteX4" fmla="*/ 0 w 1295400"/>
              <a:gd name="connsiteY4" fmla="*/ 342900 h 762267"/>
              <a:gd name="connsiteX5" fmla="*/ 9525 w 1295400"/>
              <a:gd name="connsiteY5" fmla="*/ 257175 h 762267"/>
              <a:gd name="connsiteX6" fmla="*/ 19050 w 1295400"/>
              <a:gd name="connsiteY6" fmla="*/ 219075 h 762267"/>
              <a:gd name="connsiteX7" fmla="*/ 47625 w 1295400"/>
              <a:gd name="connsiteY7" fmla="*/ 190500 h 762267"/>
              <a:gd name="connsiteX8" fmla="*/ 76200 w 1295400"/>
              <a:gd name="connsiteY8" fmla="*/ 180975 h 762267"/>
              <a:gd name="connsiteX9" fmla="*/ 285750 w 1295400"/>
              <a:gd name="connsiteY9" fmla="*/ 190500 h 762267"/>
              <a:gd name="connsiteX10" fmla="*/ 314325 w 1295400"/>
              <a:gd name="connsiteY10" fmla="*/ 200025 h 762267"/>
              <a:gd name="connsiteX11" fmla="*/ 352425 w 1295400"/>
              <a:gd name="connsiteY11" fmla="*/ 209550 h 762267"/>
              <a:gd name="connsiteX12" fmla="*/ 695325 w 1295400"/>
              <a:gd name="connsiteY12" fmla="*/ 200025 h 762267"/>
              <a:gd name="connsiteX13" fmla="*/ 771525 w 1295400"/>
              <a:gd name="connsiteY13" fmla="*/ 123825 h 762267"/>
              <a:gd name="connsiteX14" fmla="*/ 838200 w 1295400"/>
              <a:gd name="connsiteY14" fmla="*/ 95250 h 762267"/>
              <a:gd name="connsiteX15" fmla="*/ 885825 w 1295400"/>
              <a:gd name="connsiteY15" fmla="*/ 57150 h 762267"/>
              <a:gd name="connsiteX16" fmla="*/ 971550 w 1295400"/>
              <a:gd name="connsiteY16" fmla="*/ 19050 h 762267"/>
              <a:gd name="connsiteX17" fmla="*/ 1009650 w 1295400"/>
              <a:gd name="connsiteY17" fmla="*/ 0 h 762267"/>
              <a:gd name="connsiteX18" fmla="*/ 1114425 w 1295400"/>
              <a:gd name="connsiteY18" fmla="*/ 9525 h 762267"/>
              <a:gd name="connsiteX19" fmla="*/ 1123950 w 1295400"/>
              <a:gd name="connsiteY19" fmla="*/ 38100 h 762267"/>
              <a:gd name="connsiteX20" fmla="*/ 1143000 w 1295400"/>
              <a:gd name="connsiteY20" fmla="*/ 285750 h 762267"/>
              <a:gd name="connsiteX21" fmla="*/ 1200150 w 1295400"/>
              <a:gd name="connsiteY21" fmla="*/ 304800 h 762267"/>
              <a:gd name="connsiteX22" fmla="*/ 1257300 w 1295400"/>
              <a:gd name="connsiteY22" fmla="*/ 342900 h 762267"/>
              <a:gd name="connsiteX23" fmla="*/ 1285875 w 1295400"/>
              <a:gd name="connsiteY23" fmla="*/ 361950 h 762267"/>
              <a:gd name="connsiteX24" fmla="*/ 1295400 w 1295400"/>
              <a:gd name="connsiteY24" fmla="*/ 390525 h 762267"/>
              <a:gd name="connsiteX25" fmla="*/ 1266825 w 1295400"/>
              <a:gd name="connsiteY25" fmla="*/ 457200 h 762267"/>
              <a:gd name="connsiteX26" fmla="*/ 1238250 w 1295400"/>
              <a:gd name="connsiteY26" fmla="*/ 485775 h 762267"/>
              <a:gd name="connsiteX27" fmla="*/ 1219200 w 1295400"/>
              <a:gd name="connsiteY27" fmla="*/ 542925 h 762267"/>
              <a:gd name="connsiteX28" fmla="*/ 1190625 w 1295400"/>
              <a:gd name="connsiteY28" fmla="*/ 561975 h 762267"/>
              <a:gd name="connsiteX29" fmla="*/ 1133475 w 1295400"/>
              <a:gd name="connsiteY29" fmla="*/ 609600 h 762267"/>
              <a:gd name="connsiteX30" fmla="*/ 1104900 w 1295400"/>
              <a:gd name="connsiteY30" fmla="*/ 619125 h 762267"/>
              <a:gd name="connsiteX31" fmla="*/ 1057275 w 1295400"/>
              <a:gd name="connsiteY31" fmla="*/ 676275 h 762267"/>
              <a:gd name="connsiteX32" fmla="*/ 1047750 w 1295400"/>
              <a:gd name="connsiteY32" fmla="*/ 704850 h 762267"/>
              <a:gd name="connsiteX33" fmla="*/ 1038225 w 1295400"/>
              <a:gd name="connsiteY33" fmla="*/ 742950 h 762267"/>
              <a:gd name="connsiteX34" fmla="*/ 942975 w 1295400"/>
              <a:gd name="connsiteY34" fmla="*/ 762000 h 762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95400" h="762267">
                <a:moveTo>
                  <a:pt x="428625" y="666750"/>
                </a:moveTo>
                <a:cubicBezTo>
                  <a:pt x="294568" y="693561"/>
                  <a:pt x="291282" y="697945"/>
                  <a:pt x="66675" y="666750"/>
                </a:cubicBezTo>
                <a:cubicBezTo>
                  <a:pt x="50951" y="664566"/>
                  <a:pt x="47625" y="641350"/>
                  <a:pt x="38100" y="628650"/>
                </a:cubicBezTo>
                <a:cubicBezTo>
                  <a:pt x="31750" y="609600"/>
                  <a:pt x="21541" y="591425"/>
                  <a:pt x="19050" y="571500"/>
                </a:cubicBezTo>
                <a:cubicBezTo>
                  <a:pt x="3212" y="444794"/>
                  <a:pt x="11122" y="520848"/>
                  <a:pt x="0" y="342900"/>
                </a:cubicBezTo>
                <a:cubicBezTo>
                  <a:pt x="3175" y="314325"/>
                  <a:pt x="5153" y="285592"/>
                  <a:pt x="9525" y="257175"/>
                </a:cubicBezTo>
                <a:cubicBezTo>
                  <a:pt x="11516" y="244236"/>
                  <a:pt x="12555" y="230441"/>
                  <a:pt x="19050" y="219075"/>
                </a:cubicBezTo>
                <a:cubicBezTo>
                  <a:pt x="25733" y="207379"/>
                  <a:pt x="36417" y="197972"/>
                  <a:pt x="47625" y="190500"/>
                </a:cubicBezTo>
                <a:cubicBezTo>
                  <a:pt x="55979" y="184931"/>
                  <a:pt x="66675" y="184150"/>
                  <a:pt x="76200" y="180975"/>
                </a:cubicBezTo>
                <a:cubicBezTo>
                  <a:pt x="146050" y="184150"/>
                  <a:pt x="216051" y="184924"/>
                  <a:pt x="285750" y="190500"/>
                </a:cubicBezTo>
                <a:cubicBezTo>
                  <a:pt x="295758" y="191301"/>
                  <a:pt x="304671" y="197267"/>
                  <a:pt x="314325" y="200025"/>
                </a:cubicBezTo>
                <a:cubicBezTo>
                  <a:pt x="326912" y="203621"/>
                  <a:pt x="339725" y="206375"/>
                  <a:pt x="352425" y="209550"/>
                </a:cubicBezTo>
                <a:cubicBezTo>
                  <a:pt x="466725" y="206375"/>
                  <a:pt x="583300" y="222939"/>
                  <a:pt x="695325" y="200025"/>
                </a:cubicBezTo>
                <a:cubicBezTo>
                  <a:pt x="730517" y="192827"/>
                  <a:pt x="737447" y="135184"/>
                  <a:pt x="771525" y="123825"/>
                </a:cubicBezTo>
                <a:cubicBezTo>
                  <a:pt x="796925" y="115358"/>
                  <a:pt x="814660" y="110943"/>
                  <a:pt x="838200" y="95250"/>
                </a:cubicBezTo>
                <a:cubicBezTo>
                  <a:pt x="855116" y="83973"/>
                  <a:pt x="868909" y="68427"/>
                  <a:pt x="885825" y="57150"/>
                </a:cubicBezTo>
                <a:cubicBezTo>
                  <a:pt x="909273" y="41518"/>
                  <a:pt x="946800" y="30050"/>
                  <a:pt x="971550" y="19050"/>
                </a:cubicBezTo>
                <a:cubicBezTo>
                  <a:pt x="984525" y="13283"/>
                  <a:pt x="996950" y="6350"/>
                  <a:pt x="1009650" y="0"/>
                </a:cubicBezTo>
                <a:cubicBezTo>
                  <a:pt x="1044575" y="3175"/>
                  <a:pt x="1081156" y="-1565"/>
                  <a:pt x="1114425" y="9525"/>
                </a:cubicBezTo>
                <a:cubicBezTo>
                  <a:pt x="1123950" y="12700"/>
                  <a:pt x="1122917" y="28113"/>
                  <a:pt x="1123950" y="38100"/>
                </a:cubicBezTo>
                <a:cubicBezTo>
                  <a:pt x="1132469" y="120454"/>
                  <a:pt x="1120255" y="206142"/>
                  <a:pt x="1143000" y="285750"/>
                </a:cubicBezTo>
                <a:cubicBezTo>
                  <a:pt x="1148517" y="305058"/>
                  <a:pt x="1183442" y="293661"/>
                  <a:pt x="1200150" y="304800"/>
                </a:cubicBezTo>
                <a:lnTo>
                  <a:pt x="1257300" y="342900"/>
                </a:lnTo>
                <a:lnTo>
                  <a:pt x="1285875" y="361950"/>
                </a:lnTo>
                <a:cubicBezTo>
                  <a:pt x="1289050" y="371475"/>
                  <a:pt x="1295400" y="380485"/>
                  <a:pt x="1295400" y="390525"/>
                </a:cubicBezTo>
                <a:cubicBezTo>
                  <a:pt x="1295400" y="415943"/>
                  <a:pt x="1282379" y="438535"/>
                  <a:pt x="1266825" y="457200"/>
                </a:cubicBezTo>
                <a:cubicBezTo>
                  <a:pt x="1258201" y="467548"/>
                  <a:pt x="1247775" y="476250"/>
                  <a:pt x="1238250" y="485775"/>
                </a:cubicBezTo>
                <a:cubicBezTo>
                  <a:pt x="1231900" y="504825"/>
                  <a:pt x="1235908" y="531786"/>
                  <a:pt x="1219200" y="542925"/>
                </a:cubicBezTo>
                <a:cubicBezTo>
                  <a:pt x="1209675" y="549275"/>
                  <a:pt x="1199419" y="554646"/>
                  <a:pt x="1190625" y="561975"/>
                </a:cubicBezTo>
                <a:cubicBezTo>
                  <a:pt x="1159027" y="588307"/>
                  <a:pt x="1168948" y="591863"/>
                  <a:pt x="1133475" y="609600"/>
                </a:cubicBezTo>
                <a:cubicBezTo>
                  <a:pt x="1124495" y="614090"/>
                  <a:pt x="1114425" y="615950"/>
                  <a:pt x="1104900" y="619125"/>
                </a:cubicBezTo>
                <a:cubicBezTo>
                  <a:pt x="1083834" y="640191"/>
                  <a:pt x="1070536" y="649753"/>
                  <a:pt x="1057275" y="676275"/>
                </a:cubicBezTo>
                <a:cubicBezTo>
                  <a:pt x="1052785" y="685255"/>
                  <a:pt x="1050508" y="695196"/>
                  <a:pt x="1047750" y="704850"/>
                </a:cubicBezTo>
                <a:cubicBezTo>
                  <a:pt x="1044154" y="717437"/>
                  <a:pt x="1048164" y="734431"/>
                  <a:pt x="1038225" y="742950"/>
                </a:cubicBezTo>
                <a:cubicBezTo>
                  <a:pt x="1011315" y="766016"/>
                  <a:pt x="974410" y="762000"/>
                  <a:pt x="942975" y="762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צורה חופשית: צורה 14">
            <a:extLst>
              <a:ext uri="{FF2B5EF4-FFF2-40B4-BE49-F238E27FC236}">
                <a16:creationId xmlns:a16="http://schemas.microsoft.com/office/drawing/2014/main" id="{21C59B3D-35AF-4091-97E7-00DBE807F3DB}"/>
              </a:ext>
            </a:extLst>
          </p:cNvPr>
          <p:cNvSpPr/>
          <p:nvPr/>
        </p:nvSpPr>
        <p:spPr>
          <a:xfrm>
            <a:off x="8286750" y="2514600"/>
            <a:ext cx="1133526" cy="1307822"/>
          </a:xfrm>
          <a:custGeom>
            <a:avLst/>
            <a:gdLst>
              <a:gd name="connsiteX0" fmla="*/ 0 w 1133526"/>
              <a:gd name="connsiteY0" fmla="*/ 942975 h 1307822"/>
              <a:gd name="connsiteX1" fmla="*/ 47625 w 1133526"/>
              <a:gd name="connsiteY1" fmla="*/ 952500 h 1307822"/>
              <a:gd name="connsiteX2" fmla="*/ 76200 w 1133526"/>
              <a:gd name="connsiteY2" fmla="*/ 971550 h 1307822"/>
              <a:gd name="connsiteX3" fmla="*/ 104775 w 1133526"/>
              <a:gd name="connsiteY3" fmla="*/ 981075 h 1307822"/>
              <a:gd name="connsiteX4" fmla="*/ 133350 w 1133526"/>
              <a:gd name="connsiteY4" fmla="*/ 1009650 h 1307822"/>
              <a:gd name="connsiteX5" fmla="*/ 180975 w 1133526"/>
              <a:gd name="connsiteY5" fmla="*/ 1047750 h 1307822"/>
              <a:gd name="connsiteX6" fmla="*/ 238125 w 1133526"/>
              <a:gd name="connsiteY6" fmla="*/ 1162050 h 1307822"/>
              <a:gd name="connsiteX7" fmla="*/ 276225 w 1133526"/>
              <a:gd name="connsiteY7" fmla="*/ 1247775 h 1307822"/>
              <a:gd name="connsiteX8" fmla="*/ 304800 w 1133526"/>
              <a:gd name="connsiteY8" fmla="*/ 1266825 h 1307822"/>
              <a:gd name="connsiteX9" fmla="*/ 361950 w 1133526"/>
              <a:gd name="connsiteY9" fmla="*/ 1304925 h 1307822"/>
              <a:gd name="connsiteX10" fmla="*/ 485775 w 1133526"/>
              <a:gd name="connsiteY10" fmla="*/ 1285875 h 1307822"/>
              <a:gd name="connsiteX11" fmla="*/ 504825 w 1133526"/>
              <a:gd name="connsiteY11" fmla="*/ 923925 h 1307822"/>
              <a:gd name="connsiteX12" fmla="*/ 533400 w 1133526"/>
              <a:gd name="connsiteY12" fmla="*/ 857250 h 1307822"/>
              <a:gd name="connsiteX13" fmla="*/ 542925 w 1133526"/>
              <a:gd name="connsiteY13" fmla="*/ 790575 h 1307822"/>
              <a:gd name="connsiteX14" fmla="*/ 552450 w 1133526"/>
              <a:gd name="connsiteY14" fmla="*/ 704850 h 1307822"/>
              <a:gd name="connsiteX15" fmla="*/ 571500 w 1133526"/>
              <a:gd name="connsiteY15" fmla="*/ 647700 h 1307822"/>
              <a:gd name="connsiteX16" fmla="*/ 581025 w 1133526"/>
              <a:gd name="connsiteY16" fmla="*/ 609600 h 1307822"/>
              <a:gd name="connsiteX17" fmla="*/ 600075 w 1133526"/>
              <a:gd name="connsiteY17" fmla="*/ 542925 h 1307822"/>
              <a:gd name="connsiteX18" fmla="*/ 619125 w 1133526"/>
              <a:gd name="connsiteY18" fmla="*/ 485775 h 1307822"/>
              <a:gd name="connsiteX19" fmla="*/ 628650 w 1133526"/>
              <a:gd name="connsiteY19" fmla="*/ 390525 h 1307822"/>
              <a:gd name="connsiteX20" fmla="*/ 676275 w 1133526"/>
              <a:gd name="connsiteY20" fmla="*/ 295275 h 1307822"/>
              <a:gd name="connsiteX21" fmla="*/ 714375 w 1133526"/>
              <a:gd name="connsiteY21" fmla="*/ 238125 h 1307822"/>
              <a:gd name="connsiteX22" fmla="*/ 733425 w 1133526"/>
              <a:gd name="connsiteY22" fmla="*/ 190500 h 1307822"/>
              <a:gd name="connsiteX23" fmla="*/ 752475 w 1133526"/>
              <a:gd name="connsiteY23" fmla="*/ 161925 h 1307822"/>
              <a:gd name="connsiteX24" fmla="*/ 762000 w 1133526"/>
              <a:gd name="connsiteY24" fmla="*/ 133350 h 1307822"/>
              <a:gd name="connsiteX25" fmla="*/ 800100 w 1133526"/>
              <a:gd name="connsiteY25" fmla="*/ 95250 h 1307822"/>
              <a:gd name="connsiteX26" fmla="*/ 809625 w 1133526"/>
              <a:gd name="connsiteY26" fmla="*/ 66675 h 1307822"/>
              <a:gd name="connsiteX27" fmla="*/ 847725 w 1133526"/>
              <a:gd name="connsiteY27" fmla="*/ 47625 h 1307822"/>
              <a:gd name="connsiteX28" fmla="*/ 876300 w 1133526"/>
              <a:gd name="connsiteY28" fmla="*/ 28575 h 1307822"/>
              <a:gd name="connsiteX29" fmla="*/ 933450 w 1133526"/>
              <a:gd name="connsiteY29" fmla="*/ 9525 h 1307822"/>
              <a:gd name="connsiteX30" fmla="*/ 962025 w 1133526"/>
              <a:gd name="connsiteY30" fmla="*/ 0 h 1307822"/>
              <a:gd name="connsiteX31" fmla="*/ 1038225 w 1133526"/>
              <a:gd name="connsiteY31" fmla="*/ 9525 h 1307822"/>
              <a:gd name="connsiteX32" fmla="*/ 1066800 w 1133526"/>
              <a:gd name="connsiteY32" fmla="*/ 28575 h 1307822"/>
              <a:gd name="connsiteX33" fmla="*/ 1076325 w 1133526"/>
              <a:gd name="connsiteY33" fmla="*/ 190500 h 1307822"/>
              <a:gd name="connsiteX34" fmla="*/ 1085850 w 1133526"/>
              <a:gd name="connsiteY34" fmla="*/ 219075 h 1307822"/>
              <a:gd name="connsiteX35" fmla="*/ 1095375 w 1133526"/>
              <a:gd name="connsiteY35" fmla="*/ 276225 h 1307822"/>
              <a:gd name="connsiteX36" fmla="*/ 1114425 w 1133526"/>
              <a:gd name="connsiteY36" fmla="*/ 304800 h 1307822"/>
              <a:gd name="connsiteX37" fmla="*/ 1133475 w 1133526"/>
              <a:gd name="connsiteY37" fmla="*/ 381000 h 130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33526" h="1307822">
                <a:moveTo>
                  <a:pt x="0" y="942975"/>
                </a:moveTo>
                <a:cubicBezTo>
                  <a:pt x="15875" y="946150"/>
                  <a:pt x="32466" y="946816"/>
                  <a:pt x="47625" y="952500"/>
                </a:cubicBezTo>
                <a:cubicBezTo>
                  <a:pt x="58344" y="956520"/>
                  <a:pt x="65961" y="966430"/>
                  <a:pt x="76200" y="971550"/>
                </a:cubicBezTo>
                <a:cubicBezTo>
                  <a:pt x="85180" y="976040"/>
                  <a:pt x="95250" y="977900"/>
                  <a:pt x="104775" y="981075"/>
                </a:cubicBezTo>
                <a:cubicBezTo>
                  <a:pt x="114300" y="990600"/>
                  <a:pt x="122142" y="1002178"/>
                  <a:pt x="133350" y="1009650"/>
                </a:cubicBezTo>
                <a:cubicBezTo>
                  <a:pt x="169157" y="1033522"/>
                  <a:pt x="160492" y="998591"/>
                  <a:pt x="180975" y="1047750"/>
                </a:cubicBezTo>
                <a:cubicBezTo>
                  <a:pt x="227882" y="1160326"/>
                  <a:pt x="181958" y="1105883"/>
                  <a:pt x="238125" y="1162050"/>
                </a:cubicBezTo>
                <a:cubicBezTo>
                  <a:pt x="247556" y="1190344"/>
                  <a:pt x="253584" y="1225134"/>
                  <a:pt x="276225" y="1247775"/>
                </a:cubicBezTo>
                <a:cubicBezTo>
                  <a:pt x="284320" y="1255870"/>
                  <a:pt x="296006" y="1259496"/>
                  <a:pt x="304800" y="1266825"/>
                </a:cubicBezTo>
                <a:cubicBezTo>
                  <a:pt x="352366" y="1306463"/>
                  <a:pt x="311732" y="1288186"/>
                  <a:pt x="361950" y="1304925"/>
                </a:cubicBezTo>
                <a:cubicBezTo>
                  <a:pt x="403225" y="1298575"/>
                  <a:pt x="471112" y="1324977"/>
                  <a:pt x="485775" y="1285875"/>
                </a:cubicBezTo>
                <a:cubicBezTo>
                  <a:pt x="528197" y="1172751"/>
                  <a:pt x="491483" y="1044003"/>
                  <a:pt x="504825" y="923925"/>
                </a:cubicBezTo>
                <a:cubicBezTo>
                  <a:pt x="507495" y="899893"/>
                  <a:pt x="523875" y="879475"/>
                  <a:pt x="533400" y="857250"/>
                </a:cubicBezTo>
                <a:cubicBezTo>
                  <a:pt x="536575" y="835025"/>
                  <a:pt x="540140" y="812852"/>
                  <a:pt x="542925" y="790575"/>
                </a:cubicBezTo>
                <a:cubicBezTo>
                  <a:pt x="546491" y="762046"/>
                  <a:pt x="546811" y="733043"/>
                  <a:pt x="552450" y="704850"/>
                </a:cubicBezTo>
                <a:cubicBezTo>
                  <a:pt x="556388" y="685159"/>
                  <a:pt x="566630" y="667181"/>
                  <a:pt x="571500" y="647700"/>
                </a:cubicBezTo>
                <a:cubicBezTo>
                  <a:pt x="574675" y="635000"/>
                  <a:pt x="577581" y="622230"/>
                  <a:pt x="581025" y="609600"/>
                </a:cubicBezTo>
                <a:cubicBezTo>
                  <a:pt x="587107" y="587300"/>
                  <a:pt x="593277" y="565017"/>
                  <a:pt x="600075" y="542925"/>
                </a:cubicBezTo>
                <a:cubicBezTo>
                  <a:pt x="605980" y="523733"/>
                  <a:pt x="619125" y="485775"/>
                  <a:pt x="619125" y="485775"/>
                </a:cubicBezTo>
                <a:cubicBezTo>
                  <a:pt x="622300" y="454025"/>
                  <a:pt x="619481" y="421088"/>
                  <a:pt x="628650" y="390525"/>
                </a:cubicBezTo>
                <a:cubicBezTo>
                  <a:pt x="638850" y="356524"/>
                  <a:pt x="656584" y="324811"/>
                  <a:pt x="676275" y="295275"/>
                </a:cubicBezTo>
                <a:cubicBezTo>
                  <a:pt x="688975" y="276225"/>
                  <a:pt x="705872" y="259383"/>
                  <a:pt x="714375" y="238125"/>
                </a:cubicBezTo>
                <a:cubicBezTo>
                  <a:pt x="720725" y="222250"/>
                  <a:pt x="725779" y="205793"/>
                  <a:pt x="733425" y="190500"/>
                </a:cubicBezTo>
                <a:cubicBezTo>
                  <a:pt x="738545" y="180261"/>
                  <a:pt x="747355" y="172164"/>
                  <a:pt x="752475" y="161925"/>
                </a:cubicBezTo>
                <a:cubicBezTo>
                  <a:pt x="756965" y="152945"/>
                  <a:pt x="756164" y="141520"/>
                  <a:pt x="762000" y="133350"/>
                </a:cubicBezTo>
                <a:cubicBezTo>
                  <a:pt x="772439" y="118735"/>
                  <a:pt x="787400" y="107950"/>
                  <a:pt x="800100" y="95250"/>
                </a:cubicBezTo>
                <a:cubicBezTo>
                  <a:pt x="803275" y="85725"/>
                  <a:pt x="802525" y="73775"/>
                  <a:pt x="809625" y="66675"/>
                </a:cubicBezTo>
                <a:cubicBezTo>
                  <a:pt x="819665" y="56635"/>
                  <a:pt x="835397" y="54670"/>
                  <a:pt x="847725" y="47625"/>
                </a:cubicBezTo>
                <a:cubicBezTo>
                  <a:pt x="857664" y="41945"/>
                  <a:pt x="865839" y="33224"/>
                  <a:pt x="876300" y="28575"/>
                </a:cubicBezTo>
                <a:cubicBezTo>
                  <a:pt x="894650" y="20420"/>
                  <a:pt x="914400" y="15875"/>
                  <a:pt x="933450" y="9525"/>
                </a:cubicBezTo>
                <a:lnTo>
                  <a:pt x="962025" y="0"/>
                </a:lnTo>
                <a:cubicBezTo>
                  <a:pt x="987425" y="3175"/>
                  <a:pt x="1013529" y="2790"/>
                  <a:pt x="1038225" y="9525"/>
                </a:cubicBezTo>
                <a:cubicBezTo>
                  <a:pt x="1049269" y="12537"/>
                  <a:pt x="1064442" y="17373"/>
                  <a:pt x="1066800" y="28575"/>
                </a:cubicBezTo>
                <a:cubicBezTo>
                  <a:pt x="1077939" y="81484"/>
                  <a:pt x="1070945" y="136700"/>
                  <a:pt x="1076325" y="190500"/>
                </a:cubicBezTo>
                <a:cubicBezTo>
                  <a:pt x="1077324" y="200490"/>
                  <a:pt x="1083672" y="209274"/>
                  <a:pt x="1085850" y="219075"/>
                </a:cubicBezTo>
                <a:cubicBezTo>
                  <a:pt x="1090040" y="237928"/>
                  <a:pt x="1089268" y="257903"/>
                  <a:pt x="1095375" y="276225"/>
                </a:cubicBezTo>
                <a:cubicBezTo>
                  <a:pt x="1098995" y="287085"/>
                  <a:pt x="1109776" y="294339"/>
                  <a:pt x="1114425" y="304800"/>
                </a:cubicBezTo>
                <a:cubicBezTo>
                  <a:pt x="1135483" y="352181"/>
                  <a:pt x="1133475" y="346864"/>
                  <a:pt x="1133475" y="381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/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/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/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sSup>
                        <m:sSup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449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38957" y="476250"/>
            <a:ext cx="5095867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הכנה ללמת הניפוח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95726" y="1630363"/>
                <a:ext cx="7724776" cy="5160962"/>
              </a:xfrm>
            </p:spPr>
            <p:txBody>
              <a:bodyPr>
                <a:normAutofit/>
              </a:bodyPr>
              <a:lstStyle/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000" dirty="0">
                    <a:latin typeface="Rockwell Condensed" panose="02060603050405020104" pitchFamily="18" charset="0"/>
                    <a:cs typeface="+mj-cs"/>
                  </a:rPr>
                  <a:t>1.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𝑢𝑣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|≤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he-IL" sz="20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000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sz="200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95726" y="1630363"/>
                <a:ext cx="7724776" cy="5160962"/>
              </a:xfrm>
              <a:blipFill>
                <a:blip r:embed="rId2"/>
                <a:stretch>
                  <a:fillRect r="-94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אליפסה 3">
            <a:extLst>
              <a:ext uri="{FF2B5EF4-FFF2-40B4-BE49-F238E27FC236}">
                <a16:creationId xmlns:a16="http://schemas.microsoft.com/office/drawing/2014/main" id="{ECBEBC3D-589A-4128-86E3-E70D3387C39A}"/>
              </a:ext>
            </a:extLst>
          </p:cNvPr>
          <p:cNvSpPr/>
          <p:nvPr/>
        </p:nvSpPr>
        <p:spPr>
          <a:xfrm>
            <a:off x="5638800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7A68257A-9B84-4672-99C1-753ECA68067F}"/>
              </a:ext>
            </a:extLst>
          </p:cNvPr>
          <p:cNvSpPr/>
          <p:nvPr/>
        </p:nvSpPr>
        <p:spPr>
          <a:xfrm>
            <a:off x="7377114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q0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7" name="אליפסה 6">
            <a:extLst>
              <a:ext uri="{FF2B5EF4-FFF2-40B4-BE49-F238E27FC236}">
                <a16:creationId xmlns:a16="http://schemas.microsoft.com/office/drawing/2014/main" id="{B7EE1826-5415-4202-83EF-C5BA41B17783}"/>
              </a:ext>
            </a:extLst>
          </p:cNvPr>
          <p:cNvSpPr/>
          <p:nvPr/>
        </p:nvSpPr>
        <p:spPr>
          <a:xfrm>
            <a:off x="9119042" y="2857660"/>
            <a:ext cx="9144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qf</a:t>
            </a:r>
            <a:endParaRPr lang="he-IL" sz="1400" dirty="0">
              <a:solidFill>
                <a:schemeClr val="tx1"/>
              </a:solidFill>
            </a:endParaRPr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C6D7BB0-CAFD-4271-BCBD-29AD743811A1}"/>
              </a:ext>
            </a:extLst>
          </p:cNvPr>
          <p:cNvSpPr/>
          <p:nvPr/>
        </p:nvSpPr>
        <p:spPr>
          <a:xfrm>
            <a:off x="9361050" y="3069464"/>
            <a:ext cx="430383" cy="49079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sz="1400" dirty="0">
              <a:solidFill>
                <a:schemeClr val="tx1"/>
              </a:solidFill>
            </a:endParaRPr>
          </a:p>
        </p:txBody>
      </p:sp>
      <p:cxnSp>
        <p:nvCxnSpPr>
          <p:cNvPr id="9" name="מחבר חץ ישר 8">
            <a:extLst>
              <a:ext uri="{FF2B5EF4-FFF2-40B4-BE49-F238E27FC236}">
                <a16:creationId xmlns:a16="http://schemas.microsoft.com/office/drawing/2014/main" id="{05361A32-1EBA-4406-9E74-304F4EED4A56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5439747" y="2733869"/>
            <a:ext cx="332964" cy="2577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צורה חופשית: צורה 12">
            <a:extLst>
              <a:ext uri="{FF2B5EF4-FFF2-40B4-BE49-F238E27FC236}">
                <a16:creationId xmlns:a16="http://schemas.microsoft.com/office/drawing/2014/main" id="{9F354D4D-A8E8-459C-A684-CFA8D95F5ACF}"/>
              </a:ext>
            </a:extLst>
          </p:cNvPr>
          <p:cNvSpPr/>
          <p:nvPr/>
        </p:nvSpPr>
        <p:spPr>
          <a:xfrm>
            <a:off x="6578082" y="3275045"/>
            <a:ext cx="802432" cy="849086"/>
          </a:xfrm>
          <a:custGeom>
            <a:avLst/>
            <a:gdLst>
              <a:gd name="connsiteX0" fmla="*/ 0 w 802432"/>
              <a:gd name="connsiteY0" fmla="*/ 55984 h 849086"/>
              <a:gd name="connsiteX1" fmla="*/ 205273 w 802432"/>
              <a:gd name="connsiteY1" fmla="*/ 65314 h 849086"/>
              <a:gd name="connsiteX2" fmla="*/ 233265 w 802432"/>
              <a:gd name="connsiteY2" fmla="*/ 74645 h 849086"/>
              <a:gd name="connsiteX3" fmla="*/ 261257 w 802432"/>
              <a:gd name="connsiteY3" fmla="*/ 93306 h 849086"/>
              <a:gd name="connsiteX4" fmla="*/ 298579 w 802432"/>
              <a:gd name="connsiteY4" fmla="*/ 149290 h 849086"/>
              <a:gd name="connsiteX5" fmla="*/ 317240 w 802432"/>
              <a:gd name="connsiteY5" fmla="*/ 205273 h 849086"/>
              <a:gd name="connsiteX6" fmla="*/ 307910 w 802432"/>
              <a:gd name="connsiteY6" fmla="*/ 438539 h 849086"/>
              <a:gd name="connsiteX7" fmla="*/ 289249 w 802432"/>
              <a:gd name="connsiteY7" fmla="*/ 466531 h 849086"/>
              <a:gd name="connsiteX8" fmla="*/ 270587 w 802432"/>
              <a:gd name="connsiteY8" fmla="*/ 522514 h 849086"/>
              <a:gd name="connsiteX9" fmla="*/ 261257 w 802432"/>
              <a:gd name="connsiteY9" fmla="*/ 550506 h 849086"/>
              <a:gd name="connsiteX10" fmla="*/ 270587 w 802432"/>
              <a:gd name="connsiteY10" fmla="*/ 699796 h 849086"/>
              <a:gd name="connsiteX11" fmla="*/ 279918 w 802432"/>
              <a:gd name="connsiteY11" fmla="*/ 811763 h 849086"/>
              <a:gd name="connsiteX12" fmla="*/ 335902 w 802432"/>
              <a:gd name="connsiteY12" fmla="*/ 849086 h 849086"/>
              <a:gd name="connsiteX13" fmla="*/ 475861 w 802432"/>
              <a:gd name="connsiteY13" fmla="*/ 839755 h 849086"/>
              <a:gd name="connsiteX14" fmla="*/ 513183 w 802432"/>
              <a:gd name="connsiteY14" fmla="*/ 802433 h 849086"/>
              <a:gd name="connsiteX15" fmla="*/ 578498 w 802432"/>
              <a:gd name="connsiteY15" fmla="*/ 755779 h 849086"/>
              <a:gd name="connsiteX16" fmla="*/ 615820 w 802432"/>
              <a:gd name="connsiteY16" fmla="*/ 737118 h 849086"/>
              <a:gd name="connsiteX17" fmla="*/ 625151 w 802432"/>
              <a:gd name="connsiteY17" fmla="*/ 709126 h 849086"/>
              <a:gd name="connsiteX18" fmla="*/ 634481 w 802432"/>
              <a:gd name="connsiteY18" fmla="*/ 662473 h 849086"/>
              <a:gd name="connsiteX19" fmla="*/ 653142 w 802432"/>
              <a:gd name="connsiteY19" fmla="*/ 615820 h 849086"/>
              <a:gd name="connsiteX20" fmla="*/ 662473 w 802432"/>
              <a:gd name="connsiteY20" fmla="*/ 587828 h 849086"/>
              <a:gd name="connsiteX21" fmla="*/ 681134 w 802432"/>
              <a:gd name="connsiteY21" fmla="*/ 541175 h 849086"/>
              <a:gd name="connsiteX22" fmla="*/ 671804 w 802432"/>
              <a:gd name="connsiteY22" fmla="*/ 429208 h 849086"/>
              <a:gd name="connsiteX23" fmla="*/ 653142 w 802432"/>
              <a:gd name="connsiteY23" fmla="*/ 373224 h 849086"/>
              <a:gd name="connsiteX24" fmla="*/ 634481 w 802432"/>
              <a:gd name="connsiteY24" fmla="*/ 270588 h 849086"/>
              <a:gd name="connsiteX25" fmla="*/ 625151 w 802432"/>
              <a:gd name="connsiteY25" fmla="*/ 233265 h 849086"/>
              <a:gd name="connsiteX26" fmla="*/ 606489 w 802432"/>
              <a:gd name="connsiteY26" fmla="*/ 214604 h 849086"/>
              <a:gd name="connsiteX27" fmla="*/ 587828 w 802432"/>
              <a:gd name="connsiteY27" fmla="*/ 111967 h 849086"/>
              <a:gd name="connsiteX28" fmla="*/ 597159 w 802432"/>
              <a:gd name="connsiteY28" fmla="*/ 0 h 849086"/>
              <a:gd name="connsiteX29" fmla="*/ 718457 w 802432"/>
              <a:gd name="connsiteY29" fmla="*/ 9331 h 849086"/>
              <a:gd name="connsiteX30" fmla="*/ 783771 w 802432"/>
              <a:gd name="connsiteY30" fmla="*/ 27992 h 849086"/>
              <a:gd name="connsiteX31" fmla="*/ 802432 w 802432"/>
              <a:gd name="connsiteY31" fmla="*/ 27992 h 849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802432" h="849086">
                <a:moveTo>
                  <a:pt x="0" y="55984"/>
                </a:moveTo>
                <a:cubicBezTo>
                  <a:pt x="68424" y="59094"/>
                  <a:pt x="136996" y="59852"/>
                  <a:pt x="205273" y="65314"/>
                </a:cubicBezTo>
                <a:cubicBezTo>
                  <a:pt x="215077" y="66098"/>
                  <a:pt x="224468" y="70246"/>
                  <a:pt x="233265" y="74645"/>
                </a:cubicBezTo>
                <a:cubicBezTo>
                  <a:pt x="243295" y="79660"/>
                  <a:pt x="251926" y="87086"/>
                  <a:pt x="261257" y="93306"/>
                </a:cubicBezTo>
                <a:cubicBezTo>
                  <a:pt x="273698" y="111967"/>
                  <a:pt x="291487" y="128013"/>
                  <a:pt x="298579" y="149290"/>
                </a:cubicBezTo>
                <a:lnTo>
                  <a:pt x="317240" y="205273"/>
                </a:lnTo>
                <a:cubicBezTo>
                  <a:pt x="314130" y="283028"/>
                  <a:pt x="316200" y="361164"/>
                  <a:pt x="307910" y="438539"/>
                </a:cubicBezTo>
                <a:cubicBezTo>
                  <a:pt x="306715" y="449689"/>
                  <a:pt x="293804" y="456284"/>
                  <a:pt x="289249" y="466531"/>
                </a:cubicBezTo>
                <a:cubicBezTo>
                  <a:pt x="281260" y="484506"/>
                  <a:pt x="276807" y="503853"/>
                  <a:pt x="270587" y="522514"/>
                </a:cubicBezTo>
                <a:lnTo>
                  <a:pt x="261257" y="550506"/>
                </a:lnTo>
                <a:cubicBezTo>
                  <a:pt x="264367" y="600269"/>
                  <a:pt x="267035" y="650062"/>
                  <a:pt x="270587" y="699796"/>
                </a:cubicBezTo>
                <a:cubicBezTo>
                  <a:pt x="273255" y="737153"/>
                  <a:pt x="264907" y="777451"/>
                  <a:pt x="279918" y="811763"/>
                </a:cubicBezTo>
                <a:cubicBezTo>
                  <a:pt x="288908" y="832311"/>
                  <a:pt x="335902" y="849086"/>
                  <a:pt x="335902" y="849086"/>
                </a:cubicBezTo>
                <a:cubicBezTo>
                  <a:pt x="382555" y="845976"/>
                  <a:pt x="430644" y="851654"/>
                  <a:pt x="475861" y="839755"/>
                </a:cubicBezTo>
                <a:cubicBezTo>
                  <a:pt x="492875" y="835277"/>
                  <a:pt x="499942" y="814019"/>
                  <a:pt x="513183" y="802433"/>
                </a:cubicBezTo>
                <a:cubicBezTo>
                  <a:pt x="522603" y="794191"/>
                  <a:pt x="564157" y="763974"/>
                  <a:pt x="578498" y="755779"/>
                </a:cubicBezTo>
                <a:cubicBezTo>
                  <a:pt x="590574" y="748878"/>
                  <a:pt x="603379" y="743338"/>
                  <a:pt x="615820" y="737118"/>
                </a:cubicBezTo>
                <a:cubicBezTo>
                  <a:pt x="618930" y="727787"/>
                  <a:pt x="622766" y="718668"/>
                  <a:pt x="625151" y="709126"/>
                </a:cubicBezTo>
                <a:cubicBezTo>
                  <a:pt x="628997" y="693741"/>
                  <a:pt x="629924" y="677663"/>
                  <a:pt x="634481" y="662473"/>
                </a:cubicBezTo>
                <a:cubicBezTo>
                  <a:pt x="639294" y="646430"/>
                  <a:pt x="647261" y="631502"/>
                  <a:pt x="653142" y="615820"/>
                </a:cubicBezTo>
                <a:cubicBezTo>
                  <a:pt x="656595" y="606611"/>
                  <a:pt x="659020" y="597037"/>
                  <a:pt x="662473" y="587828"/>
                </a:cubicBezTo>
                <a:cubicBezTo>
                  <a:pt x="668354" y="572146"/>
                  <a:pt x="674914" y="556726"/>
                  <a:pt x="681134" y="541175"/>
                </a:cubicBezTo>
                <a:cubicBezTo>
                  <a:pt x="678024" y="503853"/>
                  <a:pt x="677961" y="466150"/>
                  <a:pt x="671804" y="429208"/>
                </a:cubicBezTo>
                <a:cubicBezTo>
                  <a:pt x="668570" y="409805"/>
                  <a:pt x="653142" y="373224"/>
                  <a:pt x="653142" y="373224"/>
                </a:cubicBezTo>
                <a:cubicBezTo>
                  <a:pt x="646387" y="332690"/>
                  <a:pt x="643178" y="309727"/>
                  <a:pt x="634481" y="270588"/>
                </a:cubicBezTo>
                <a:cubicBezTo>
                  <a:pt x="631699" y="258070"/>
                  <a:pt x="630886" y="244735"/>
                  <a:pt x="625151" y="233265"/>
                </a:cubicBezTo>
                <a:cubicBezTo>
                  <a:pt x="621217" y="225397"/>
                  <a:pt x="612710" y="220824"/>
                  <a:pt x="606489" y="214604"/>
                </a:cubicBezTo>
                <a:cubicBezTo>
                  <a:pt x="593368" y="175239"/>
                  <a:pt x="587828" y="164716"/>
                  <a:pt x="587828" y="111967"/>
                </a:cubicBezTo>
                <a:cubicBezTo>
                  <a:pt x="587828" y="74515"/>
                  <a:pt x="594049" y="37322"/>
                  <a:pt x="597159" y="0"/>
                </a:cubicBezTo>
                <a:cubicBezTo>
                  <a:pt x="637592" y="3110"/>
                  <a:pt x="678183" y="4593"/>
                  <a:pt x="718457" y="9331"/>
                </a:cubicBezTo>
                <a:cubicBezTo>
                  <a:pt x="774781" y="15957"/>
                  <a:pt x="736357" y="18509"/>
                  <a:pt x="783771" y="27992"/>
                </a:cubicBezTo>
                <a:cubicBezTo>
                  <a:pt x="789871" y="29212"/>
                  <a:pt x="796212" y="27992"/>
                  <a:pt x="802432" y="27992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צורה חופשית: צורה 13">
            <a:extLst>
              <a:ext uri="{FF2B5EF4-FFF2-40B4-BE49-F238E27FC236}">
                <a16:creationId xmlns:a16="http://schemas.microsoft.com/office/drawing/2014/main" id="{9342375B-35F9-473C-8D23-99AE458243E1}"/>
              </a:ext>
            </a:extLst>
          </p:cNvPr>
          <p:cNvSpPr/>
          <p:nvPr/>
        </p:nvSpPr>
        <p:spPr>
          <a:xfrm>
            <a:off x="7229475" y="2219325"/>
            <a:ext cx="1295400" cy="762267"/>
          </a:xfrm>
          <a:custGeom>
            <a:avLst/>
            <a:gdLst>
              <a:gd name="connsiteX0" fmla="*/ 428625 w 1295400"/>
              <a:gd name="connsiteY0" fmla="*/ 666750 h 762267"/>
              <a:gd name="connsiteX1" fmla="*/ 66675 w 1295400"/>
              <a:gd name="connsiteY1" fmla="*/ 666750 h 762267"/>
              <a:gd name="connsiteX2" fmla="*/ 38100 w 1295400"/>
              <a:gd name="connsiteY2" fmla="*/ 628650 h 762267"/>
              <a:gd name="connsiteX3" fmla="*/ 19050 w 1295400"/>
              <a:gd name="connsiteY3" fmla="*/ 571500 h 762267"/>
              <a:gd name="connsiteX4" fmla="*/ 0 w 1295400"/>
              <a:gd name="connsiteY4" fmla="*/ 342900 h 762267"/>
              <a:gd name="connsiteX5" fmla="*/ 9525 w 1295400"/>
              <a:gd name="connsiteY5" fmla="*/ 257175 h 762267"/>
              <a:gd name="connsiteX6" fmla="*/ 19050 w 1295400"/>
              <a:gd name="connsiteY6" fmla="*/ 219075 h 762267"/>
              <a:gd name="connsiteX7" fmla="*/ 47625 w 1295400"/>
              <a:gd name="connsiteY7" fmla="*/ 190500 h 762267"/>
              <a:gd name="connsiteX8" fmla="*/ 76200 w 1295400"/>
              <a:gd name="connsiteY8" fmla="*/ 180975 h 762267"/>
              <a:gd name="connsiteX9" fmla="*/ 285750 w 1295400"/>
              <a:gd name="connsiteY9" fmla="*/ 190500 h 762267"/>
              <a:gd name="connsiteX10" fmla="*/ 314325 w 1295400"/>
              <a:gd name="connsiteY10" fmla="*/ 200025 h 762267"/>
              <a:gd name="connsiteX11" fmla="*/ 352425 w 1295400"/>
              <a:gd name="connsiteY11" fmla="*/ 209550 h 762267"/>
              <a:gd name="connsiteX12" fmla="*/ 695325 w 1295400"/>
              <a:gd name="connsiteY12" fmla="*/ 200025 h 762267"/>
              <a:gd name="connsiteX13" fmla="*/ 771525 w 1295400"/>
              <a:gd name="connsiteY13" fmla="*/ 123825 h 762267"/>
              <a:gd name="connsiteX14" fmla="*/ 838200 w 1295400"/>
              <a:gd name="connsiteY14" fmla="*/ 95250 h 762267"/>
              <a:gd name="connsiteX15" fmla="*/ 885825 w 1295400"/>
              <a:gd name="connsiteY15" fmla="*/ 57150 h 762267"/>
              <a:gd name="connsiteX16" fmla="*/ 971550 w 1295400"/>
              <a:gd name="connsiteY16" fmla="*/ 19050 h 762267"/>
              <a:gd name="connsiteX17" fmla="*/ 1009650 w 1295400"/>
              <a:gd name="connsiteY17" fmla="*/ 0 h 762267"/>
              <a:gd name="connsiteX18" fmla="*/ 1114425 w 1295400"/>
              <a:gd name="connsiteY18" fmla="*/ 9525 h 762267"/>
              <a:gd name="connsiteX19" fmla="*/ 1123950 w 1295400"/>
              <a:gd name="connsiteY19" fmla="*/ 38100 h 762267"/>
              <a:gd name="connsiteX20" fmla="*/ 1143000 w 1295400"/>
              <a:gd name="connsiteY20" fmla="*/ 285750 h 762267"/>
              <a:gd name="connsiteX21" fmla="*/ 1200150 w 1295400"/>
              <a:gd name="connsiteY21" fmla="*/ 304800 h 762267"/>
              <a:gd name="connsiteX22" fmla="*/ 1257300 w 1295400"/>
              <a:gd name="connsiteY22" fmla="*/ 342900 h 762267"/>
              <a:gd name="connsiteX23" fmla="*/ 1285875 w 1295400"/>
              <a:gd name="connsiteY23" fmla="*/ 361950 h 762267"/>
              <a:gd name="connsiteX24" fmla="*/ 1295400 w 1295400"/>
              <a:gd name="connsiteY24" fmla="*/ 390525 h 762267"/>
              <a:gd name="connsiteX25" fmla="*/ 1266825 w 1295400"/>
              <a:gd name="connsiteY25" fmla="*/ 457200 h 762267"/>
              <a:gd name="connsiteX26" fmla="*/ 1238250 w 1295400"/>
              <a:gd name="connsiteY26" fmla="*/ 485775 h 762267"/>
              <a:gd name="connsiteX27" fmla="*/ 1219200 w 1295400"/>
              <a:gd name="connsiteY27" fmla="*/ 542925 h 762267"/>
              <a:gd name="connsiteX28" fmla="*/ 1190625 w 1295400"/>
              <a:gd name="connsiteY28" fmla="*/ 561975 h 762267"/>
              <a:gd name="connsiteX29" fmla="*/ 1133475 w 1295400"/>
              <a:gd name="connsiteY29" fmla="*/ 609600 h 762267"/>
              <a:gd name="connsiteX30" fmla="*/ 1104900 w 1295400"/>
              <a:gd name="connsiteY30" fmla="*/ 619125 h 762267"/>
              <a:gd name="connsiteX31" fmla="*/ 1057275 w 1295400"/>
              <a:gd name="connsiteY31" fmla="*/ 676275 h 762267"/>
              <a:gd name="connsiteX32" fmla="*/ 1047750 w 1295400"/>
              <a:gd name="connsiteY32" fmla="*/ 704850 h 762267"/>
              <a:gd name="connsiteX33" fmla="*/ 1038225 w 1295400"/>
              <a:gd name="connsiteY33" fmla="*/ 742950 h 762267"/>
              <a:gd name="connsiteX34" fmla="*/ 942975 w 1295400"/>
              <a:gd name="connsiteY34" fmla="*/ 762000 h 762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295400" h="762267">
                <a:moveTo>
                  <a:pt x="428625" y="666750"/>
                </a:moveTo>
                <a:cubicBezTo>
                  <a:pt x="294568" y="693561"/>
                  <a:pt x="291282" y="697945"/>
                  <a:pt x="66675" y="666750"/>
                </a:cubicBezTo>
                <a:cubicBezTo>
                  <a:pt x="50951" y="664566"/>
                  <a:pt x="47625" y="641350"/>
                  <a:pt x="38100" y="628650"/>
                </a:cubicBezTo>
                <a:cubicBezTo>
                  <a:pt x="31750" y="609600"/>
                  <a:pt x="21541" y="591425"/>
                  <a:pt x="19050" y="571500"/>
                </a:cubicBezTo>
                <a:cubicBezTo>
                  <a:pt x="3212" y="444794"/>
                  <a:pt x="11122" y="520848"/>
                  <a:pt x="0" y="342900"/>
                </a:cubicBezTo>
                <a:cubicBezTo>
                  <a:pt x="3175" y="314325"/>
                  <a:pt x="5153" y="285592"/>
                  <a:pt x="9525" y="257175"/>
                </a:cubicBezTo>
                <a:cubicBezTo>
                  <a:pt x="11516" y="244236"/>
                  <a:pt x="12555" y="230441"/>
                  <a:pt x="19050" y="219075"/>
                </a:cubicBezTo>
                <a:cubicBezTo>
                  <a:pt x="25733" y="207379"/>
                  <a:pt x="36417" y="197972"/>
                  <a:pt x="47625" y="190500"/>
                </a:cubicBezTo>
                <a:cubicBezTo>
                  <a:pt x="55979" y="184931"/>
                  <a:pt x="66675" y="184150"/>
                  <a:pt x="76200" y="180975"/>
                </a:cubicBezTo>
                <a:cubicBezTo>
                  <a:pt x="146050" y="184150"/>
                  <a:pt x="216051" y="184924"/>
                  <a:pt x="285750" y="190500"/>
                </a:cubicBezTo>
                <a:cubicBezTo>
                  <a:pt x="295758" y="191301"/>
                  <a:pt x="304671" y="197267"/>
                  <a:pt x="314325" y="200025"/>
                </a:cubicBezTo>
                <a:cubicBezTo>
                  <a:pt x="326912" y="203621"/>
                  <a:pt x="339725" y="206375"/>
                  <a:pt x="352425" y="209550"/>
                </a:cubicBezTo>
                <a:cubicBezTo>
                  <a:pt x="466725" y="206375"/>
                  <a:pt x="583300" y="222939"/>
                  <a:pt x="695325" y="200025"/>
                </a:cubicBezTo>
                <a:cubicBezTo>
                  <a:pt x="730517" y="192827"/>
                  <a:pt x="737447" y="135184"/>
                  <a:pt x="771525" y="123825"/>
                </a:cubicBezTo>
                <a:cubicBezTo>
                  <a:pt x="796925" y="115358"/>
                  <a:pt x="814660" y="110943"/>
                  <a:pt x="838200" y="95250"/>
                </a:cubicBezTo>
                <a:cubicBezTo>
                  <a:pt x="855116" y="83973"/>
                  <a:pt x="868909" y="68427"/>
                  <a:pt x="885825" y="57150"/>
                </a:cubicBezTo>
                <a:cubicBezTo>
                  <a:pt x="909273" y="41518"/>
                  <a:pt x="946800" y="30050"/>
                  <a:pt x="971550" y="19050"/>
                </a:cubicBezTo>
                <a:cubicBezTo>
                  <a:pt x="984525" y="13283"/>
                  <a:pt x="996950" y="6350"/>
                  <a:pt x="1009650" y="0"/>
                </a:cubicBezTo>
                <a:cubicBezTo>
                  <a:pt x="1044575" y="3175"/>
                  <a:pt x="1081156" y="-1565"/>
                  <a:pt x="1114425" y="9525"/>
                </a:cubicBezTo>
                <a:cubicBezTo>
                  <a:pt x="1123950" y="12700"/>
                  <a:pt x="1122917" y="28113"/>
                  <a:pt x="1123950" y="38100"/>
                </a:cubicBezTo>
                <a:cubicBezTo>
                  <a:pt x="1132469" y="120454"/>
                  <a:pt x="1120255" y="206142"/>
                  <a:pt x="1143000" y="285750"/>
                </a:cubicBezTo>
                <a:cubicBezTo>
                  <a:pt x="1148517" y="305058"/>
                  <a:pt x="1183442" y="293661"/>
                  <a:pt x="1200150" y="304800"/>
                </a:cubicBezTo>
                <a:lnTo>
                  <a:pt x="1257300" y="342900"/>
                </a:lnTo>
                <a:lnTo>
                  <a:pt x="1285875" y="361950"/>
                </a:lnTo>
                <a:cubicBezTo>
                  <a:pt x="1289050" y="371475"/>
                  <a:pt x="1295400" y="380485"/>
                  <a:pt x="1295400" y="390525"/>
                </a:cubicBezTo>
                <a:cubicBezTo>
                  <a:pt x="1295400" y="415943"/>
                  <a:pt x="1282379" y="438535"/>
                  <a:pt x="1266825" y="457200"/>
                </a:cubicBezTo>
                <a:cubicBezTo>
                  <a:pt x="1258201" y="467548"/>
                  <a:pt x="1247775" y="476250"/>
                  <a:pt x="1238250" y="485775"/>
                </a:cubicBezTo>
                <a:cubicBezTo>
                  <a:pt x="1231900" y="504825"/>
                  <a:pt x="1235908" y="531786"/>
                  <a:pt x="1219200" y="542925"/>
                </a:cubicBezTo>
                <a:cubicBezTo>
                  <a:pt x="1209675" y="549275"/>
                  <a:pt x="1199419" y="554646"/>
                  <a:pt x="1190625" y="561975"/>
                </a:cubicBezTo>
                <a:cubicBezTo>
                  <a:pt x="1159027" y="588307"/>
                  <a:pt x="1168948" y="591863"/>
                  <a:pt x="1133475" y="609600"/>
                </a:cubicBezTo>
                <a:cubicBezTo>
                  <a:pt x="1124495" y="614090"/>
                  <a:pt x="1114425" y="615950"/>
                  <a:pt x="1104900" y="619125"/>
                </a:cubicBezTo>
                <a:cubicBezTo>
                  <a:pt x="1083834" y="640191"/>
                  <a:pt x="1070536" y="649753"/>
                  <a:pt x="1057275" y="676275"/>
                </a:cubicBezTo>
                <a:cubicBezTo>
                  <a:pt x="1052785" y="685255"/>
                  <a:pt x="1050508" y="695196"/>
                  <a:pt x="1047750" y="704850"/>
                </a:cubicBezTo>
                <a:cubicBezTo>
                  <a:pt x="1044154" y="717437"/>
                  <a:pt x="1048164" y="734431"/>
                  <a:pt x="1038225" y="742950"/>
                </a:cubicBezTo>
                <a:cubicBezTo>
                  <a:pt x="1011315" y="766016"/>
                  <a:pt x="974410" y="762000"/>
                  <a:pt x="942975" y="762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צורה חופשית: צורה 14">
            <a:extLst>
              <a:ext uri="{FF2B5EF4-FFF2-40B4-BE49-F238E27FC236}">
                <a16:creationId xmlns:a16="http://schemas.microsoft.com/office/drawing/2014/main" id="{21C59B3D-35AF-4091-97E7-00DBE807F3DB}"/>
              </a:ext>
            </a:extLst>
          </p:cNvPr>
          <p:cNvSpPr/>
          <p:nvPr/>
        </p:nvSpPr>
        <p:spPr>
          <a:xfrm>
            <a:off x="8286750" y="2514600"/>
            <a:ext cx="1133526" cy="1307822"/>
          </a:xfrm>
          <a:custGeom>
            <a:avLst/>
            <a:gdLst>
              <a:gd name="connsiteX0" fmla="*/ 0 w 1133526"/>
              <a:gd name="connsiteY0" fmla="*/ 942975 h 1307822"/>
              <a:gd name="connsiteX1" fmla="*/ 47625 w 1133526"/>
              <a:gd name="connsiteY1" fmla="*/ 952500 h 1307822"/>
              <a:gd name="connsiteX2" fmla="*/ 76200 w 1133526"/>
              <a:gd name="connsiteY2" fmla="*/ 971550 h 1307822"/>
              <a:gd name="connsiteX3" fmla="*/ 104775 w 1133526"/>
              <a:gd name="connsiteY3" fmla="*/ 981075 h 1307822"/>
              <a:gd name="connsiteX4" fmla="*/ 133350 w 1133526"/>
              <a:gd name="connsiteY4" fmla="*/ 1009650 h 1307822"/>
              <a:gd name="connsiteX5" fmla="*/ 180975 w 1133526"/>
              <a:gd name="connsiteY5" fmla="*/ 1047750 h 1307822"/>
              <a:gd name="connsiteX6" fmla="*/ 238125 w 1133526"/>
              <a:gd name="connsiteY6" fmla="*/ 1162050 h 1307822"/>
              <a:gd name="connsiteX7" fmla="*/ 276225 w 1133526"/>
              <a:gd name="connsiteY7" fmla="*/ 1247775 h 1307822"/>
              <a:gd name="connsiteX8" fmla="*/ 304800 w 1133526"/>
              <a:gd name="connsiteY8" fmla="*/ 1266825 h 1307822"/>
              <a:gd name="connsiteX9" fmla="*/ 361950 w 1133526"/>
              <a:gd name="connsiteY9" fmla="*/ 1304925 h 1307822"/>
              <a:gd name="connsiteX10" fmla="*/ 485775 w 1133526"/>
              <a:gd name="connsiteY10" fmla="*/ 1285875 h 1307822"/>
              <a:gd name="connsiteX11" fmla="*/ 504825 w 1133526"/>
              <a:gd name="connsiteY11" fmla="*/ 923925 h 1307822"/>
              <a:gd name="connsiteX12" fmla="*/ 533400 w 1133526"/>
              <a:gd name="connsiteY12" fmla="*/ 857250 h 1307822"/>
              <a:gd name="connsiteX13" fmla="*/ 542925 w 1133526"/>
              <a:gd name="connsiteY13" fmla="*/ 790575 h 1307822"/>
              <a:gd name="connsiteX14" fmla="*/ 552450 w 1133526"/>
              <a:gd name="connsiteY14" fmla="*/ 704850 h 1307822"/>
              <a:gd name="connsiteX15" fmla="*/ 571500 w 1133526"/>
              <a:gd name="connsiteY15" fmla="*/ 647700 h 1307822"/>
              <a:gd name="connsiteX16" fmla="*/ 581025 w 1133526"/>
              <a:gd name="connsiteY16" fmla="*/ 609600 h 1307822"/>
              <a:gd name="connsiteX17" fmla="*/ 600075 w 1133526"/>
              <a:gd name="connsiteY17" fmla="*/ 542925 h 1307822"/>
              <a:gd name="connsiteX18" fmla="*/ 619125 w 1133526"/>
              <a:gd name="connsiteY18" fmla="*/ 485775 h 1307822"/>
              <a:gd name="connsiteX19" fmla="*/ 628650 w 1133526"/>
              <a:gd name="connsiteY19" fmla="*/ 390525 h 1307822"/>
              <a:gd name="connsiteX20" fmla="*/ 676275 w 1133526"/>
              <a:gd name="connsiteY20" fmla="*/ 295275 h 1307822"/>
              <a:gd name="connsiteX21" fmla="*/ 714375 w 1133526"/>
              <a:gd name="connsiteY21" fmla="*/ 238125 h 1307822"/>
              <a:gd name="connsiteX22" fmla="*/ 733425 w 1133526"/>
              <a:gd name="connsiteY22" fmla="*/ 190500 h 1307822"/>
              <a:gd name="connsiteX23" fmla="*/ 752475 w 1133526"/>
              <a:gd name="connsiteY23" fmla="*/ 161925 h 1307822"/>
              <a:gd name="connsiteX24" fmla="*/ 762000 w 1133526"/>
              <a:gd name="connsiteY24" fmla="*/ 133350 h 1307822"/>
              <a:gd name="connsiteX25" fmla="*/ 800100 w 1133526"/>
              <a:gd name="connsiteY25" fmla="*/ 95250 h 1307822"/>
              <a:gd name="connsiteX26" fmla="*/ 809625 w 1133526"/>
              <a:gd name="connsiteY26" fmla="*/ 66675 h 1307822"/>
              <a:gd name="connsiteX27" fmla="*/ 847725 w 1133526"/>
              <a:gd name="connsiteY27" fmla="*/ 47625 h 1307822"/>
              <a:gd name="connsiteX28" fmla="*/ 876300 w 1133526"/>
              <a:gd name="connsiteY28" fmla="*/ 28575 h 1307822"/>
              <a:gd name="connsiteX29" fmla="*/ 933450 w 1133526"/>
              <a:gd name="connsiteY29" fmla="*/ 9525 h 1307822"/>
              <a:gd name="connsiteX30" fmla="*/ 962025 w 1133526"/>
              <a:gd name="connsiteY30" fmla="*/ 0 h 1307822"/>
              <a:gd name="connsiteX31" fmla="*/ 1038225 w 1133526"/>
              <a:gd name="connsiteY31" fmla="*/ 9525 h 1307822"/>
              <a:gd name="connsiteX32" fmla="*/ 1066800 w 1133526"/>
              <a:gd name="connsiteY32" fmla="*/ 28575 h 1307822"/>
              <a:gd name="connsiteX33" fmla="*/ 1076325 w 1133526"/>
              <a:gd name="connsiteY33" fmla="*/ 190500 h 1307822"/>
              <a:gd name="connsiteX34" fmla="*/ 1085850 w 1133526"/>
              <a:gd name="connsiteY34" fmla="*/ 219075 h 1307822"/>
              <a:gd name="connsiteX35" fmla="*/ 1095375 w 1133526"/>
              <a:gd name="connsiteY35" fmla="*/ 276225 h 1307822"/>
              <a:gd name="connsiteX36" fmla="*/ 1114425 w 1133526"/>
              <a:gd name="connsiteY36" fmla="*/ 304800 h 1307822"/>
              <a:gd name="connsiteX37" fmla="*/ 1133475 w 1133526"/>
              <a:gd name="connsiteY37" fmla="*/ 381000 h 130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133526" h="1307822">
                <a:moveTo>
                  <a:pt x="0" y="942975"/>
                </a:moveTo>
                <a:cubicBezTo>
                  <a:pt x="15875" y="946150"/>
                  <a:pt x="32466" y="946816"/>
                  <a:pt x="47625" y="952500"/>
                </a:cubicBezTo>
                <a:cubicBezTo>
                  <a:pt x="58344" y="956520"/>
                  <a:pt x="65961" y="966430"/>
                  <a:pt x="76200" y="971550"/>
                </a:cubicBezTo>
                <a:cubicBezTo>
                  <a:pt x="85180" y="976040"/>
                  <a:pt x="95250" y="977900"/>
                  <a:pt x="104775" y="981075"/>
                </a:cubicBezTo>
                <a:cubicBezTo>
                  <a:pt x="114300" y="990600"/>
                  <a:pt x="122142" y="1002178"/>
                  <a:pt x="133350" y="1009650"/>
                </a:cubicBezTo>
                <a:cubicBezTo>
                  <a:pt x="169157" y="1033522"/>
                  <a:pt x="160492" y="998591"/>
                  <a:pt x="180975" y="1047750"/>
                </a:cubicBezTo>
                <a:cubicBezTo>
                  <a:pt x="227882" y="1160326"/>
                  <a:pt x="181958" y="1105883"/>
                  <a:pt x="238125" y="1162050"/>
                </a:cubicBezTo>
                <a:cubicBezTo>
                  <a:pt x="247556" y="1190344"/>
                  <a:pt x="253584" y="1225134"/>
                  <a:pt x="276225" y="1247775"/>
                </a:cubicBezTo>
                <a:cubicBezTo>
                  <a:pt x="284320" y="1255870"/>
                  <a:pt x="296006" y="1259496"/>
                  <a:pt x="304800" y="1266825"/>
                </a:cubicBezTo>
                <a:cubicBezTo>
                  <a:pt x="352366" y="1306463"/>
                  <a:pt x="311732" y="1288186"/>
                  <a:pt x="361950" y="1304925"/>
                </a:cubicBezTo>
                <a:cubicBezTo>
                  <a:pt x="403225" y="1298575"/>
                  <a:pt x="471112" y="1324977"/>
                  <a:pt x="485775" y="1285875"/>
                </a:cubicBezTo>
                <a:cubicBezTo>
                  <a:pt x="528197" y="1172751"/>
                  <a:pt x="491483" y="1044003"/>
                  <a:pt x="504825" y="923925"/>
                </a:cubicBezTo>
                <a:cubicBezTo>
                  <a:pt x="507495" y="899893"/>
                  <a:pt x="523875" y="879475"/>
                  <a:pt x="533400" y="857250"/>
                </a:cubicBezTo>
                <a:cubicBezTo>
                  <a:pt x="536575" y="835025"/>
                  <a:pt x="540140" y="812852"/>
                  <a:pt x="542925" y="790575"/>
                </a:cubicBezTo>
                <a:cubicBezTo>
                  <a:pt x="546491" y="762046"/>
                  <a:pt x="546811" y="733043"/>
                  <a:pt x="552450" y="704850"/>
                </a:cubicBezTo>
                <a:cubicBezTo>
                  <a:pt x="556388" y="685159"/>
                  <a:pt x="566630" y="667181"/>
                  <a:pt x="571500" y="647700"/>
                </a:cubicBezTo>
                <a:cubicBezTo>
                  <a:pt x="574675" y="635000"/>
                  <a:pt x="577581" y="622230"/>
                  <a:pt x="581025" y="609600"/>
                </a:cubicBezTo>
                <a:cubicBezTo>
                  <a:pt x="587107" y="587300"/>
                  <a:pt x="593277" y="565017"/>
                  <a:pt x="600075" y="542925"/>
                </a:cubicBezTo>
                <a:cubicBezTo>
                  <a:pt x="605980" y="523733"/>
                  <a:pt x="619125" y="485775"/>
                  <a:pt x="619125" y="485775"/>
                </a:cubicBezTo>
                <a:cubicBezTo>
                  <a:pt x="622300" y="454025"/>
                  <a:pt x="619481" y="421088"/>
                  <a:pt x="628650" y="390525"/>
                </a:cubicBezTo>
                <a:cubicBezTo>
                  <a:pt x="638850" y="356524"/>
                  <a:pt x="656584" y="324811"/>
                  <a:pt x="676275" y="295275"/>
                </a:cubicBezTo>
                <a:cubicBezTo>
                  <a:pt x="688975" y="276225"/>
                  <a:pt x="705872" y="259383"/>
                  <a:pt x="714375" y="238125"/>
                </a:cubicBezTo>
                <a:cubicBezTo>
                  <a:pt x="720725" y="222250"/>
                  <a:pt x="725779" y="205793"/>
                  <a:pt x="733425" y="190500"/>
                </a:cubicBezTo>
                <a:cubicBezTo>
                  <a:pt x="738545" y="180261"/>
                  <a:pt x="747355" y="172164"/>
                  <a:pt x="752475" y="161925"/>
                </a:cubicBezTo>
                <a:cubicBezTo>
                  <a:pt x="756965" y="152945"/>
                  <a:pt x="756164" y="141520"/>
                  <a:pt x="762000" y="133350"/>
                </a:cubicBezTo>
                <a:cubicBezTo>
                  <a:pt x="772439" y="118735"/>
                  <a:pt x="787400" y="107950"/>
                  <a:pt x="800100" y="95250"/>
                </a:cubicBezTo>
                <a:cubicBezTo>
                  <a:pt x="803275" y="85725"/>
                  <a:pt x="802525" y="73775"/>
                  <a:pt x="809625" y="66675"/>
                </a:cubicBezTo>
                <a:cubicBezTo>
                  <a:pt x="819665" y="56635"/>
                  <a:pt x="835397" y="54670"/>
                  <a:pt x="847725" y="47625"/>
                </a:cubicBezTo>
                <a:cubicBezTo>
                  <a:pt x="857664" y="41945"/>
                  <a:pt x="865839" y="33224"/>
                  <a:pt x="876300" y="28575"/>
                </a:cubicBezTo>
                <a:cubicBezTo>
                  <a:pt x="894650" y="20420"/>
                  <a:pt x="914400" y="15875"/>
                  <a:pt x="933450" y="9525"/>
                </a:cubicBezTo>
                <a:lnTo>
                  <a:pt x="962025" y="0"/>
                </a:lnTo>
                <a:cubicBezTo>
                  <a:pt x="987425" y="3175"/>
                  <a:pt x="1013529" y="2790"/>
                  <a:pt x="1038225" y="9525"/>
                </a:cubicBezTo>
                <a:cubicBezTo>
                  <a:pt x="1049269" y="12537"/>
                  <a:pt x="1064442" y="17373"/>
                  <a:pt x="1066800" y="28575"/>
                </a:cubicBezTo>
                <a:cubicBezTo>
                  <a:pt x="1077939" y="81484"/>
                  <a:pt x="1070945" y="136700"/>
                  <a:pt x="1076325" y="190500"/>
                </a:cubicBezTo>
                <a:cubicBezTo>
                  <a:pt x="1077324" y="200490"/>
                  <a:pt x="1083672" y="209274"/>
                  <a:pt x="1085850" y="219075"/>
                </a:cubicBezTo>
                <a:cubicBezTo>
                  <a:pt x="1090040" y="237928"/>
                  <a:pt x="1089268" y="257903"/>
                  <a:pt x="1095375" y="276225"/>
                </a:cubicBezTo>
                <a:cubicBezTo>
                  <a:pt x="1098995" y="287085"/>
                  <a:pt x="1109776" y="294339"/>
                  <a:pt x="1114425" y="304800"/>
                </a:cubicBezTo>
                <a:cubicBezTo>
                  <a:pt x="1135483" y="352181"/>
                  <a:pt x="1133475" y="346864"/>
                  <a:pt x="1133475" y="381000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/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תיבת טקסט 15">
                <a:extLst>
                  <a:ext uri="{FF2B5EF4-FFF2-40B4-BE49-F238E27FC236}">
                    <a16:creationId xmlns:a16="http://schemas.microsoft.com/office/drawing/2014/main" id="{57CAFD5B-C3C7-4824-BE0E-25904BFD8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8957" y="3609543"/>
                <a:ext cx="39051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/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תיבת טקסט 16">
                <a:extLst>
                  <a:ext uri="{FF2B5EF4-FFF2-40B4-BE49-F238E27FC236}">
                    <a16:creationId xmlns:a16="http://schemas.microsoft.com/office/drawing/2014/main" id="{34D5B90E-A035-44A5-AFFC-A08F5A0D4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6673" y="2469278"/>
                <a:ext cx="39051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/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תיבת טקסט 17">
                <a:extLst>
                  <a:ext uri="{FF2B5EF4-FFF2-40B4-BE49-F238E27FC236}">
                    <a16:creationId xmlns:a16="http://schemas.microsoft.com/office/drawing/2014/main" id="{F11D9040-1916-49EE-9A6B-39C205D66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711" y="3792816"/>
                <a:ext cx="113352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6263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625" y="476250"/>
            <a:ext cx="7315199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למת הניפוח לשפות רגולריות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שפה רגולרית, אז קיים קבוע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כל שלכל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קיים פירוק: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90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625" y="476250"/>
            <a:ext cx="7315199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למת הניפוח לשפות רגולריות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שפה רגולרית, אז קיים קבוע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כל שלכל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קיים פירוק: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</a:t>
                </a:r>
                <a:endParaRPr lang="en-US" u="sng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</a:t>
                </a:r>
                <a:r>
                  <a:rPr lang="he-IL" dirty="0">
                    <a:latin typeface="Rockwell Condensed" panose="02060603050405020104" pitchFamily="18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ולכל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90969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8715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28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403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1323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463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97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</p:spPr>
            <p:txBody>
              <a:bodyPr>
                <a:normAutofit/>
              </a:bodyPr>
              <a:lstStyle/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מכאן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אינה רגולרית.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  <a:blipFill>
                <a:blip r:embed="rId2"/>
                <a:stretch>
                  <a:fillRect t="-1302" r="-11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848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</p:spPr>
            <p:txBody>
              <a:bodyPr>
                <a:normAutofit/>
              </a:bodyPr>
              <a:lstStyle/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שאלה למחשבה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האם היה מתאים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  <a:blipFill>
                <a:blip r:embed="rId2"/>
                <a:stretch>
                  <a:fillRect t="-1302" r="-11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1685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</p:spPr>
            <p:txBody>
              <a:bodyPr>
                <a:normAutofit/>
              </a:bodyPr>
              <a:lstStyle/>
              <a:p>
                <a:pPr marL="457200" indent="-457200" algn="r"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+mj-cs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&gt;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שאלה למחשבה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האם היה מתאים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תשובה: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לא, אם נפעל באופן דומה, ונבחר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he-IL" dirty="0">
                    <a:solidFill>
                      <a:schemeClr val="tx1"/>
                    </a:solidFill>
                    <a:latin typeface="Rockwell Condensed" panose="02060603050405020104" pitchFamily="18" charset="0"/>
                  </a:rPr>
                  <a:t> </a:t>
                </a:r>
                <a:endParaRPr lang="he-IL" dirty="0">
                  <a:solidFill>
                    <a:schemeClr val="tx1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chemeClr val="tx1"/>
                    </a:solidFill>
                    <a:latin typeface="Rockwell Condensed" panose="02060603050405020104" pitchFamily="18" charset="0"/>
                    <a:cs typeface="+mj-cs"/>
                  </a:rPr>
                  <a:t>נקבל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he-IL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ולא מובטח כי מילה זו אינה בשפה.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  <a:blipFill>
                <a:blip r:embed="rId2"/>
                <a:stretch>
                  <a:fillRect t="-1302" r="-11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3385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5362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080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57550" y="1630362"/>
                <a:ext cx="8362952" cy="610393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57550" y="1630362"/>
                <a:ext cx="8362952" cy="6103938"/>
              </a:xfrm>
              <a:blipFill>
                <a:blip r:embed="rId2"/>
                <a:stretch>
                  <a:fillRect t="-1397" r="-12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0663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257550" y="1630362"/>
                <a:ext cx="8362952" cy="610393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מכאן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אינה רגולרית.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257550" y="1630362"/>
                <a:ext cx="8362952" cy="6103938"/>
              </a:xfrm>
              <a:blipFill>
                <a:blip r:embed="rId2"/>
                <a:stretch>
                  <a:fillRect t="-1397" r="-12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8758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</a:t>
                </a:r>
                <a:r>
                  <a:rPr lang="he-IL" dirty="0">
                    <a:latin typeface="Rockwell Condensed" panose="020606030504050201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שאלה למחשבה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האם היה מתאים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𝑎𝑎𝑏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  <a:blipFill>
                <a:blip r:embed="rId2"/>
                <a:stretch>
                  <a:fillRect t="-1518" r="-12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6131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</a:t>
                </a:r>
                <a:r>
                  <a:rPr lang="he-IL" dirty="0">
                    <a:latin typeface="Rockwell Condensed" panose="020606030504050201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#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שאלה למחשבה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האם היה מתאים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𝑎𝑎𝑏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תשובה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לא, יתכן כי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𝑎𝑎𝑏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לדוגמה.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ובכל ניפוח אפשרי (בחירה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), נקבל מילה השייכת לשפה.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90900" y="1630362"/>
                <a:ext cx="8229602" cy="5618163"/>
              </a:xfrm>
              <a:blipFill>
                <a:blip r:embed="rId2"/>
                <a:stretch>
                  <a:fillRect t="-1518" r="-125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5701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1813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4498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448050" y="1630362"/>
                <a:ext cx="8172452" cy="5541963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448050" y="1630362"/>
                <a:ext cx="8172452" cy="5541963"/>
              </a:xfrm>
              <a:blipFill>
                <a:blip r:embed="rId2"/>
                <a:stretch>
                  <a:fillRect t="-1538" r="-11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2458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448050" y="1630362"/>
                <a:ext cx="8172452" cy="5541963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מכאן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3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אינה רגולרית.</a:t>
                </a: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448050" y="1630362"/>
                <a:ext cx="8172452" cy="5541963"/>
              </a:xfrm>
              <a:blipFill>
                <a:blip r:embed="rId2"/>
                <a:stretch>
                  <a:fillRect t="-1538" r="-119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2527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4338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+mj-cs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⁡(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469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62325" y="1630362"/>
                <a:ext cx="8258177" cy="570388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+mj-cs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⁡(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62325" y="1630362"/>
                <a:ext cx="8258177" cy="5703888"/>
              </a:xfrm>
              <a:blipFill>
                <a:blip r:embed="rId2"/>
                <a:stretch>
                  <a:fillRect t="-641" r="-118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0198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24125" y="1630362"/>
                <a:ext cx="9096377" cy="570388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7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+mj-cs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⁡(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שהרי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𝑡</m:t>
                    </m:r>
                    <m:r>
                      <a:rPr lang="he-I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sSup>
                      <m:sSupPr>
                        <m:ctrlP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he-IL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he-IL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מכאן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אינה רגולרית.</a:t>
                </a: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24125" y="1630362"/>
                <a:ext cx="9096377" cy="5703888"/>
              </a:xfrm>
              <a:blipFill>
                <a:blip r:embed="rId2"/>
                <a:stretch>
                  <a:fillRect t="-641" r="-113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0855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ראשוני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6089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הוכיחו בעזרת למת הניפוח לשפות רגולריות כי השפות הבאות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אינן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ראשוני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(כאשר,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 =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ראשוני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000" dirty="0">
                  <a:latin typeface="Rockwell Condensed" panose="02060603050405020104" pitchFamily="18" charset="0"/>
                </a:endParaRPr>
              </a:p>
              <a:p>
                <a:pPr algn="r"/>
                <a:endParaRPr lang="en-US" sz="20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571876" y="1630362"/>
                <a:ext cx="8048626" cy="4999037"/>
              </a:xfrm>
              <a:blipFill>
                <a:blip r:embed="rId2"/>
                <a:stretch>
                  <a:fillRect t="-1707" r="-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4469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085975" y="1630362"/>
                <a:ext cx="9534527" cy="578008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ראשוני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(כאשר,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 =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ראשוני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085975" y="1630362"/>
                <a:ext cx="9534527" cy="5780088"/>
              </a:xfrm>
              <a:blipFill>
                <a:blip r:embed="rId2"/>
                <a:stretch>
                  <a:fillRect t="-843" r="-10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546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03" y="476250"/>
            <a:ext cx="3793721" cy="814387"/>
          </a:xfrm>
        </p:spPr>
        <p:txBody>
          <a:bodyPr>
            <a:normAutofit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085975" y="1630362"/>
                <a:ext cx="9534527" cy="5780088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ראשוני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נניח בשלילה כי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</m:sup>
                    </m:sSup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(כאשר,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קבוע הלמה = </a:t>
                </a:r>
                <a14:m>
                  <m:oMath xmlns:m="http://schemas.openxmlformats.org/officeDocument/2006/math"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ראשוני</m:t>
                    </m:r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8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𝑝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𝑝𝑡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מכאן ש-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5</m:t>
                        </m:r>
                      </m:sub>
                    </m:sSub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אינה רגולרית.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085975" y="1630362"/>
                <a:ext cx="9534527" cy="5780088"/>
              </a:xfrm>
              <a:blipFill>
                <a:blip r:embed="rId2"/>
                <a:stretch>
                  <a:fillRect t="-843" r="-10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9058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א. בעזרת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סגירויות</a:t>
                </a:r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89064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א. בעזרת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סגירויות</a:t>
                </a:r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ידוע כי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אינה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כמו כן ברור כי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רגולרית.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01903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א. בעזרת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סגירויות</a:t>
                </a:r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ידוע כי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אינה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כמו כן ברור כי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עתה אם נניח בשלילה כי השפה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רגולרית, נקבל בסתירה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כי השפה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 (סגירות השפות הרגולריות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להפרש).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921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ראשון...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8614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ראשון...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כמובן אי אפשר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ו"לקבוע"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214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שני...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84260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שני...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כמובן אי אפשר לבחור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(שהרי יש להבטיח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שלם).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3802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שלישי...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ועתה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...</a:t>
                </a: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4048128" y="1630363"/>
                <a:ext cx="7572373" cy="4513262"/>
              </a:xfrm>
              <a:blipFill>
                <a:blip r:embed="rId2"/>
                <a:stretch>
                  <a:fillRect t="-1889" r="-136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9300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שלישי...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ועתה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הבחירה לא מוצלחת שהרי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המופיע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אינו אותו ה-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שהוא גודלו של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בלמת הניפוח, והאחרון תלוי בראשון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("ביצה ותרנגולת"...)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632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5717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רביעי...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(נקבע בהמשך את ערכו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ועתה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איזה ערך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יבטיח ערך שלם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?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632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875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הוכיחו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רגולרית: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ב. באופן ישיר, בעזרת למת הניפוח.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ניסיון רביעי...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(נקבע בהמשך את ערכו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נקבל...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b="0" dirty="0">
                  <a:latin typeface="Rockwell Condensed" panose="02060603050405020104" pitchFamily="18" charset="0"/>
                  <a:ea typeface="Cambria Math" panose="02040503050406030204" pitchFamily="18" charset="0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ועתה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𝑥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איזה ערך של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יבטיח ערך שלם של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?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!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שהרי ידוע כי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632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92504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1.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!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!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!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!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ונקבל בסתירה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he-IL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515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9250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הוכיחו בעזרת למת הניפוח לשפות רגולריות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רגולרית.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632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81208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2.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+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!)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נסמן: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ונקבל בסתירה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he-IL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f>
                              <m:fPr>
                                <m:ctrlP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num>
                              <m:den>
                                <m:r>
                                  <a:rPr lang="en-US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sup>
                    </m:sSup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!)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515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27541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הוכיחו בעזרת למת הניפוח לשפות רגולריות כי השפה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אינה רגולרית.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881536" y="1630362"/>
                <a:ext cx="7738966" cy="5227637"/>
              </a:xfrm>
              <a:blipFill>
                <a:blip r:embed="rId2"/>
                <a:stretch>
                  <a:fillRect t="-1632" r="-126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72008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אפשרויות: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𝑡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      </a:t>
                </a:r>
                <a:r>
                  <a:rPr lang="en-US" dirty="0">
                    <a:latin typeface="Rockwell Condensed" panose="02060603050405020104" pitchFamily="18" charset="0"/>
                  </a:rPr>
                  <a:t>(ii)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699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28151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 lnSpcReduction="10000"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פתרון: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קבוע הלמה)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על פי למת הניפוח קיים פירוק: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אפשרות: </a:t>
                </a:r>
                <a:r>
                  <a:rPr lang="en-US" sz="2600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sz="2600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sz="2600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(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𝑡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)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כן מתקיים: 3.  ולכל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600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sz="2600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</m:sup>
                    </m:sSup>
                    <m:sSup>
                      <m:sSupPr>
                        <m:ctrlP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𝑖𝑡</m:t>
                        </m:r>
                      </m:sup>
                    </m:sSup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𝑠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sup>
                    </m:sSup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sz="2600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נבחר </a:t>
                </a:r>
                <a14:m>
                  <m:oMath xmlns:m="http://schemas.openxmlformats.org/officeDocument/2006/math"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2</m:t>
                    </m:r>
                  </m:oMath>
                </a14:m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b>
                    </m:sSub>
                    <m:r>
                      <a:rPr lang="he-IL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6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sz="26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sz="26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sz="2600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שהרי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he-IL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&lt;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𝑡</m:t>
                    </m:r>
                    <m:r>
                      <a:rPr lang="he-IL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≤</m:t>
                    </m:r>
                    <m:sSup>
                      <m:sSupPr>
                        <m:ctrlPr>
                          <a:rPr lang="he-IL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𝑛</m:t>
                        </m:r>
                      </m:e>
                      <m:sup>
                        <m:r>
                          <a:rPr lang="he-IL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  <m:r>
                      <a:rPr lang="he-IL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+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&lt;</m:t>
                    </m:r>
                    <m:sSup>
                      <m:sSupPr>
                        <m:ctrlP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(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𝑛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+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1</m:t>
                        </m:r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sz="26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399" r="-129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46245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3.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פתרון: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 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(כאשר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קבוע הלמה)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על פי למת הניפוח קיים פירוק: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אפשרות: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(ii)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𝜀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𝑏𝑎</m:t>
                        </m:r>
                      </m:e>
                      <m: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,   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en-US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כן מתקיים: 3. 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4</m:t>
                        </m:r>
                      </m:sub>
                    </m:sSub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j-cs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  <a:cs typeface="+mj-cs"/>
                                  </a:rPr>
                                  <m:t>𝑏</m:t>
                                </m:r>
                                <m:sSup>
                                  <m:sSupPr>
                                    <m:ctrlP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  <a:cs typeface="+mj-cs"/>
                                      </a:rPr>
                                      <m:t>𝑡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𝑖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 נבחר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ונקבל בסתירה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0</m:t>
                        </m:r>
                      </m:sub>
                    </m:sSub>
                    <m:r>
                      <a:rPr lang="he-IL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𝑎</m:t>
                        </m:r>
                      </m:e>
                      <m:sup>
                        <m:sSup>
                          <m:sSupPr>
                            <m:ctrlP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+mj-cs"/>
                              </a:rPr>
                              <m:t>2</m:t>
                            </m:r>
                          </m:sup>
                        </m:sSup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−</m:t>
                        </m:r>
                        <m: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+mj-cs"/>
                          </a:rPr>
                          <m:t>𝑡</m:t>
                        </m:r>
                      </m:sup>
                    </m:sSup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solidFill>
                    <a:srgbClr val="FF0000"/>
                  </a:solidFill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699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64989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שפה סופית.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נסמן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את מספר המצבים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באס"ד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המילה הארוכה ביותר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נסמן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הוכיחו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7423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4. 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שפה סופית.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נסמן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את מספר המצבים </a:t>
                </a:r>
                <a:r>
                  <a:rPr lang="he-IL" dirty="0" err="1">
                    <a:latin typeface="Rockwell Condensed" panose="02060603050405020104" pitchFamily="18" charset="0"/>
                    <a:cs typeface="+mj-cs"/>
                  </a:rPr>
                  <a:t>באס"ד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המקבל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תהי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המילה הארוכה ביותר ב-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נסמן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הוכיחו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נניח בשלילה כי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לפיכך למת הניפוח חלה על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מכאן שניתן לנפח את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לאינסוף מילים שאמורות להימצא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בשפה, בסתירה לכך ש-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סופית.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1822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 </a:t>
                </a:r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(* שאלה ברמת קושי גבוהה)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הוכיחו את הטענה הבאה: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</p:txBody>
          </p:sp>
        </mc:Choice>
        <mc:Fallback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449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הוכיחו את הטענה הבאה: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 שגוי: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ולכן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(ii)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 ולכן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(סגירות לשרשור)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(iii)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רגולרית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ולכן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מקיימת את למת הניפוח לשפות רגולריות.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1223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הוכיחו את הטענה הבאה: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8497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הוכיחו את הטענה הבאה: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 שגוי: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      ולכן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רגולרית.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(ii)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 ולכן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רגולרית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(סגירות לשרשור)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(iii)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רגולרית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ולכן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מקיימת את למת הניפוח לשפות רגולריות.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1632" r="-121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43EAFEA-8860-4020-835B-983E99023937}"/>
              </a:ext>
            </a:extLst>
          </p:cNvPr>
          <p:cNvSpPr txBox="1"/>
          <p:nvPr/>
        </p:nvSpPr>
        <p:spPr>
          <a:xfrm>
            <a:off x="11271633" y="3666930"/>
            <a:ext cx="423514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X</a:t>
            </a:r>
            <a:endParaRPr lang="he-IL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9987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</p:spPr>
            <p:txBody>
              <a:bodyPr>
                <a:normAutofit fontScale="92500" lnSpcReduction="20000"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הוכיחו את הטענה הבאה: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לפיכך קיים קבוע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כך שלכל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קיים פירוק: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כך ש:</a:t>
                </a:r>
                <a:endParaRPr lang="en-US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116424" y="1630362"/>
                <a:ext cx="8504078" cy="5227637"/>
              </a:xfrm>
              <a:blipFill>
                <a:blip r:embed="rId2"/>
                <a:stretch>
                  <a:fillRect t="-2448" r="-100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33395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</p:spPr>
            <p:txBody>
              <a:bodyPr>
                <a:normAutofit fontScale="92500" lnSpcReduction="20000"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הוכיחו את הטענה הבאה: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אם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אז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𝐿</m:t>
                        </m:r>
                      </m:e>
                      <m:sup>
                        <m:r>
                          <a:rPr lang="en-US" sz="2600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רגולריות.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sz="2600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לפיכך קיים קבוע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,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כך שלכל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600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r>
                          <a:rPr lang="en-US" sz="2600" i="1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קיים פירוק: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כך ש:</a:t>
                </a:r>
                <a:endParaRPr lang="en-US" sz="2600" u="sng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1.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2.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sz="2600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 3. ולכל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2600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sz="2600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sz="2600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sz="2600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sz="2600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sz="2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נראה כי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6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 </a:t>
                </a:r>
              </a:p>
              <a:p>
                <a:pPr algn="r"/>
                <a:r>
                  <a:rPr lang="he-IL" sz="2600" dirty="0">
                    <a:solidFill>
                      <a:srgbClr val="FF0000"/>
                    </a:solidFill>
                    <a:latin typeface="Rockwell Condensed" panose="02060603050405020104" pitchFamily="18" charset="0"/>
                    <a:cs typeface="+mj-cs"/>
                  </a:rPr>
                  <a:t>    עם הקבוע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6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  <a:blipFill>
                <a:blip r:embed="rId2"/>
                <a:stretch>
                  <a:fillRect t="-2623" r="-114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335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:r>
                  <a:rPr lang="he-IL" sz="2600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לכל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קיימים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כך ש-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’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אפשרות: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 </a:t>
                </a:r>
                <a:r>
                  <a:rPr lang="en-US" dirty="0">
                    <a:latin typeface="Rockwell Condensed" panose="02060603050405020104" pitchFamily="18" charset="0"/>
                  </a:rPr>
                  <a:t>(ii)</a:t>
                </a:r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       יתכן ששתי האפשרויות מתקיימות.</a:t>
                </a: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  <a:blipFill>
                <a:blip r:embed="rId2"/>
                <a:stretch>
                  <a:fillRect t="-1639" r="-12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67969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לכל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קיימים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כך ש-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אפשרויות: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קיים פירוק: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  <a:blipFill>
                <a:blip r:embed="rId2"/>
                <a:stretch>
                  <a:fillRect t="-1530" r="-12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5211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לכל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קיימים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כך ש-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אפשרויות: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קיים פירוק: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מכאן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נקבע: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′</m:t>
                        </m:r>
                      </m:sup>
                    </m:sSup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קיים פירוק: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e-IL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  <m:sup>
                        <m:r>
                          <a:rPr lang="he-IL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bSup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  <a:blipFill>
                <a:blip r:embed="rId2"/>
                <a:stretch>
                  <a:fillRect t="-1530" r="-12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71716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A4888C9-558A-4754-9DB8-4719388324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53943" y="476250"/>
            <a:ext cx="4880881" cy="814387"/>
          </a:xfrm>
        </p:spPr>
        <p:txBody>
          <a:bodyPr>
            <a:normAutofit fontScale="90000"/>
          </a:bodyPr>
          <a:lstStyle/>
          <a:p>
            <a:pPr algn="r"/>
            <a:r>
              <a:rPr lang="he-IL" sz="4800" u="sng" dirty="0">
                <a:latin typeface="Segoe UI Semilight" panose="020B0402040204020203" pitchFamily="34" charset="0"/>
                <a:cs typeface="Segoe UI Semilight" panose="020B0402040204020203" pitchFamily="34" charset="0"/>
              </a:rPr>
              <a:t>תרגילים מתקדמים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</p:spPr>
            <p:txBody>
              <a:bodyPr>
                <a:normAutofit/>
              </a:bodyPr>
              <a:lstStyle/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5. </a:t>
                </a:r>
                <a:r>
                  <a:rPr lang="he-IL" u="sng" dirty="0">
                    <a:latin typeface="Rockwell Condensed" panose="02060603050405020104" pitchFamily="18" charset="0"/>
                    <a:cs typeface="+mj-cs"/>
                  </a:rPr>
                  <a:t>פתרון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:</a:t>
                </a: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לכל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  <a:cs typeface="+mj-cs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𝑚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קיימים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כך ש-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=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z</m:t>
                    </m:r>
                    <m:r>
                      <a:rPr lang="en-US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.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אפשרויות: 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(</a:t>
                </a:r>
                <a:r>
                  <a:rPr lang="en-US" dirty="0" err="1">
                    <a:latin typeface="Rockwell Condensed" panose="02060603050405020104" pitchFamily="18" charset="0"/>
                    <a:cs typeface="+mj-cs"/>
                  </a:rPr>
                  <a:t>i</a:t>
                </a:r>
                <a:r>
                  <a:rPr lang="en-US" dirty="0">
                    <a:latin typeface="Rockwell Condensed" panose="02060603050405020104" pitchFamily="18" charset="0"/>
                    <a:cs typeface="+mj-cs"/>
                  </a:rPr>
                  <a:t>)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מקיימת את למת הניפוח לשפות רגולריות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קיים פירוק: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cs typeface="+mj-cs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𝑢𝑣𝑤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𝑢𝑣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</m:sSub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cs typeface="+mj-cs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𝐿</m:t>
                    </m:r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מכאן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>
                    <a:latin typeface="Rockwell Condensed" panose="020606030504050201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𝑢𝑣𝑤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</a:t>
                </a:r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נקבע: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cs typeface="+mj-cs"/>
                          </a:rPr>
                          <m:t>′</m:t>
                        </m:r>
                      </m:sup>
                    </m:sSup>
                    <m:r>
                      <a:rPr lang="he-IL" b="0" i="1" smtClean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+mj-cs"/>
                      </a:rPr>
                      <m:t>,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he-IL" sz="2600" dirty="0">
                    <a:latin typeface="Rockwell Condensed" panose="02060603050405020104" pitchFamily="18" charset="0"/>
                    <a:cs typeface="+mj-cs"/>
                  </a:rPr>
                  <a:t>  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לפיכך קיים פירוק: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כך ש: 1.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|≤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𝑛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2.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|</m:t>
                    </m:r>
                  </m:oMath>
                </a14:m>
                <a:r>
                  <a:rPr lang="en-US" dirty="0">
                    <a:latin typeface="Cambria Math" panose="02040503050406030204" pitchFamily="18" charset="0"/>
                    <a:ea typeface="Cambria Math" panose="02040503050406030204" pitchFamily="18" charset="0"/>
                    <a:cs typeface="+mj-cs"/>
                  </a:rPr>
                  <a:t>≥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1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</a:t>
                </a:r>
              </a:p>
              <a:p>
                <a:pPr algn="r"/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           3. ולכל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+mj-cs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0</m:t>
                    </m:r>
                  </m:oMath>
                </a14:m>
                <a:r>
                  <a:rPr lang="he-IL" dirty="0">
                    <a:latin typeface="Rockwell Condensed" panose="02060603050405020104" pitchFamily="18" charset="0"/>
                    <a:cs typeface="+mj-cs"/>
                  </a:rPr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e-IL" i="1" dirty="0" smtClean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b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𝑧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b>
                      <m:sup>
                        <m:r>
                          <a:rPr lang="he-IL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∗</m:t>
                        </m:r>
                      </m:sup>
                    </m:sSubSup>
                    <m:r>
                      <a:rPr lang="he-IL" i="1" dirty="0">
                        <a:latin typeface="Cambria Math" panose="02040503050406030204" pitchFamily="18" charset="0"/>
                        <a:cs typeface="+mj-cs"/>
                      </a:rPr>
                      <m:t>=</m:t>
                    </m:r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𝑣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+mj-cs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+mj-cs"/>
                          </a:rPr>
                          <m:t>)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cs typeface="+mj-cs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𝑢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′′</m:t>
                    </m:r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+mj-cs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he-IL" dirty="0">
                  <a:latin typeface="Rockwell Condensed" panose="02060603050405020104" pitchFamily="18" charset="0"/>
                  <a:cs typeface="+mj-cs"/>
                </a:endParaRPr>
              </a:p>
              <a:p>
                <a:pPr algn="r"/>
                <a:endParaRPr lang="he-IL" sz="2600" dirty="0">
                  <a:latin typeface="Rockwell Condensed" panose="02060603050405020104" pitchFamily="18" charset="0"/>
                  <a:cs typeface="+mj-cs"/>
                </a:endParaRPr>
              </a:p>
            </p:txBody>
          </p:sp>
        </mc:Choice>
        <mc:Fallback xmlns="">
          <p:sp>
            <p:nvSpPr>
              <p:cNvPr id="5" name="כותרת משנה 4">
                <a:extLst>
                  <a:ext uri="{FF2B5EF4-FFF2-40B4-BE49-F238E27FC236}">
                    <a16:creationId xmlns:a16="http://schemas.microsoft.com/office/drawing/2014/main" id="{3E30FD7F-22B1-48B2-8F28-A32187C060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079102" y="1630362"/>
                <a:ext cx="8541400" cy="5572871"/>
              </a:xfrm>
              <a:blipFill>
                <a:blip r:embed="rId2"/>
                <a:stretch>
                  <a:fillRect t="-1530" r="-128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D2EE49C0-7BDC-42FD-B7BB-2F8C378B8C2F}"/>
              </a:ext>
            </a:extLst>
          </p:cNvPr>
          <p:cNvSpPr txBox="1"/>
          <p:nvPr/>
        </p:nvSpPr>
        <p:spPr>
          <a:xfrm>
            <a:off x="3816221" y="2304662"/>
            <a:ext cx="2589246" cy="1569660"/>
          </a:xfrm>
          <a:prstGeom prst="rect">
            <a:avLst/>
          </a:prstGeom>
          <a:solidFill>
            <a:srgbClr val="FFFF00"/>
          </a:solidFill>
        </p:spPr>
        <p:txBody>
          <a:bodyPr wrap="square" rtlCol="1">
            <a:spAutoFit/>
          </a:bodyPr>
          <a:lstStyle/>
          <a:p>
            <a:r>
              <a:rPr lang="he-IL" sz="2400" dirty="0">
                <a:cs typeface="+mj-cs"/>
              </a:rPr>
              <a:t>תרגיל עצמאי:</a:t>
            </a:r>
          </a:p>
          <a:p>
            <a:r>
              <a:rPr lang="he-IL" sz="2400" dirty="0">
                <a:cs typeface="+mj-cs"/>
              </a:rPr>
              <a:t>הצג את המשך הפתרון, עבור אפשרות </a:t>
            </a:r>
            <a:r>
              <a:rPr lang="en-US" sz="2400" dirty="0">
                <a:cs typeface="+mj-cs"/>
              </a:rPr>
              <a:t>(ii)</a:t>
            </a:r>
            <a:r>
              <a:rPr lang="he-IL" sz="2400" dirty="0">
                <a:cs typeface="+mj-cs"/>
              </a:rPr>
              <a:t>,</a:t>
            </a:r>
          </a:p>
          <a:p>
            <a:r>
              <a:rPr lang="he-IL" sz="2400" dirty="0">
                <a:cs typeface="+mj-cs"/>
              </a:rPr>
              <a:t>והשלם את ההוכחה.</a:t>
            </a:r>
          </a:p>
        </p:txBody>
      </p:sp>
    </p:spTree>
    <p:extLst>
      <p:ext uri="{BB962C8B-B14F-4D97-AF65-F5344CB8AC3E}">
        <p14:creationId xmlns:p14="http://schemas.microsoft.com/office/powerpoint/2010/main" val="2862784491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</TotalTime>
  <Words>4428</Words>
  <Application>Microsoft Office PowerPoint</Application>
  <PresentationFormat>מסך רחב</PresentationFormat>
  <Paragraphs>615</Paragraphs>
  <Slides>66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66</vt:i4>
      </vt:variant>
    </vt:vector>
  </HeadingPairs>
  <TitlesOfParts>
    <vt:vector size="73" baseType="lpstr">
      <vt:lpstr>Arial</vt:lpstr>
      <vt:lpstr>Calibri</vt:lpstr>
      <vt:lpstr>Calibri Light</vt:lpstr>
      <vt:lpstr>Cambria Math</vt:lpstr>
      <vt:lpstr>Rockwell Condensed</vt:lpstr>
      <vt:lpstr>Segoe UI Semilight</vt:lpstr>
      <vt:lpstr>1_ערכת נושא Office</vt:lpstr>
      <vt:lpstr>מצגת של PowerPoint‏</vt:lpstr>
      <vt:lpstr>מודלים חישוביים</vt:lpstr>
      <vt:lpstr>טענה</vt:lpstr>
      <vt:lpstr>טענה</vt:lpstr>
      <vt:lpstr>טענה</vt:lpstr>
      <vt:lpstr>טענה</vt:lpstr>
      <vt:lpstr>טענה</vt:lpstr>
      <vt:lpstr>טענה</vt:lpstr>
      <vt:lpstr>הכנה ללמת הניפוח</vt:lpstr>
      <vt:lpstr>למת הניפוח לשפות רגולריות</vt:lpstr>
      <vt:lpstr>למת הניפוח לשפות רגולריות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  <vt:lpstr>תרגילים מתקדמים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מודלים חישוביים</dc:title>
  <dc:creator>yosyos566@gmail.com</dc:creator>
  <cp:lastModifiedBy>יוסי שלוסברג</cp:lastModifiedBy>
  <cp:revision>34</cp:revision>
  <dcterms:created xsi:type="dcterms:W3CDTF">2019-10-07T12:13:06Z</dcterms:created>
  <dcterms:modified xsi:type="dcterms:W3CDTF">2020-08-21T14:20:53Z</dcterms:modified>
</cp:coreProperties>
</file>